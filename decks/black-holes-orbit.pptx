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6035040" y="-1645920"/>
            <a:ext cx="7863840" cy="786384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377440" y="329184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7680960" y="640080"/>
            <a:ext cx="4937760" cy="493776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607040" y="521208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617720"/>
            <a:ext cx="13716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219170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7C5CFF"/>
                </a:solidFill>
                <a:latin typeface="Unbounded"/>
              </a:rPr>
              <a:t>A JOURNEY TO THE EDGE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822960" y="1783080"/>
            <a:ext cx="7589520" cy="2697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6600" b="1">
                <a:solidFill>
                  <a:srgbClr val="F4F5FF"/>
                </a:solidFill>
                <a:latin typeface="Unbounded"/>
              </a:rPr>
              <a:t>Black Holes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822960" y="4937760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AA0C3"/>
                </a:solidFill>
                <a:latin typeface="Unbounded"/>
              </a:rPr>
              <a:t>Where gravity wins, light gives up, and physics gets weird.</a:t>
            </a:r>
          </a:p>
        </p:txBody>
      </p:sp>
      <p:sp>
        <p:nvSpPr>
          <p:cNvPr id="12" name="byline"/>
          <p:cNvSpPr txBox="1"/>
          <p:nvPr/>
        </p:nvSpPr>
        <p:spPr>
          <a:xfrm>
            <a:off x="822960" y="61722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0C3"/>
                </a:solidFill>
                <a:latin typeface="Unbounded"/>
              </a:rPr>
              <a:t>Astronomy 101 · Guest lecture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0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2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926080" y="-2926080"/>
            <a:ext cx="8229600" cy="82296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412480" y="310896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1188720" y="1051560"/>
            <a:ext cx="9784080" cy="475488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4200000">
            <a:off x="-1737360" y="3840480"/>
            <a:ext cx="4206240" cy="420624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972800" y="822960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1783080" y="1600200"/>
            <a:ext cx="82296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2438339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tement"/>
          <p:cNvSpPr txBox="1"/>
          <p:nvPr/>
        </p:nvSpPr>
        <p:spPr>
          <a:xfrm>
            <a:off x="1783080" y="1874520"/>
            <a:ext cx="877824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4F5FF"/>
                </a:solidFill>
                <a:latin typeface="Unbounded"/>
              </a:rPr>
              <a:t>A black hole is not a hole. It is matter squeezed so tight that nothing can escape it.</a:t>
            </a:r>
          </a:p>
        </p:txBody>
      </p:sp>
      <p:sp>
        <p:nvSpPr>
          <p:cNvPr id="10" name="attribution"/>
          <p:cNvSpPr txBox="1"/>
          <p:nvPr/>
        </p:nvSpPr>
        <p:spPr>
          <a:xfrm>
            <a:off x="1783080" y="498348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C5CFF"/>
                </a:solidFill>
                <a:latin typeface="Unbounded"/>
              </a:rPr>
              <a:t>— The short version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15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286000" y="-1828800"/>
            <a:ext cx="8686800" cy="8686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8400000">
            <a:off x="822960" y="1143000"/>
            <a:ext cx="4572000" cy="45720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937760" y="123444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035040" y="3886200"/>
            <a:ext cx="109728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3657509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"/>
          <p:cNvSpPr txBox="1"/>
          <p:nvPr/>
        </p:nvSpPr>
        <p:spPr>
          <a:xfrm>
            <a:off x="822960" y="1143000"/>
            <a:ext cx="4572000" cy="457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7C5CFF"/>
                </a:solidFill>
                <a:latin typeface="Unbounded"/>
              </a:rPr>
              <a:t>01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035040" y="1188720"/>
            <a:ext cx="5486400" cy="25603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F4F5FF"/>
                </a:solidFill>
                <a:latin typeface="Unbounded"/>
              </a:rPr>
              <a:t>How they are born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035040" y="420624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Most black holes start as giant stars that run out of fuel.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9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1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3200400" y="-411480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778240" y="3566160"/>
            <a:ext cx="5303520" cy="530352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2600000">
            <a:off x="10241280" y="-1280160"/>
            <a:ext cx="3108960" cy="310896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566928" y="3776472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3877056"/>
            <a:ext cx="10607040" cy="457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4876678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The death of a giant star</a:t>
            </a:r>
          </a:p>
        </p:txBody>
      </p:sp>
      <p:sp>
        <p:nvSpPr>
          <p:cNvPr id="10" name="node0"/>
          <p:cNvSpPr/>
          <p:nvPr/>
        </p:nvSpPr>
        <p:spPr>
          <a:xfrm>
            <a:off x="914400" y="3762756"/>
            <a:ext cx="274320" cy="274320"/>
          </a:xfrm>
          <a:prstGeom prst="ellipse">
            <a:avLst/>
          </a:prstGeom>
          <a:solidFill>
            <a:srgbClr val="0A0B1A"/>
          </a:solidFill>
          <a:ln w="28575">
            <a:solidFill>
              <a:srgbClr val="7C5C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abel0"/>
          <p:cNvSpPr txBox="1"/>
          <p:nvPr/>
        </p:nvSpPr>
        <p:spPr>
          <a:xfrm>
            <a:off x="91440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7C5CFF"/>
                </a:solidFill>
                <a:latin typeface="Unbounded"/>
              </a:rPr>
              <a:t>Fuel</a:t>
            </a:r>
          </a:p>
        </p:txBody>
      </p:sp>
      <p:sp>
        <p:nvSpPr>
          <p:cNvPr id="12" name="step0"/>
          <p:cNvSpPr txBox="1"/>
          <p:nvPr/>
        </p:nvSpPr>
        <p:spPr>
          <a:xfrm>
            <a:off x="91440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4F5FF"/>
                </a:solidFill>
                <a:latin typeface="Unbounded"/>
              </a:rPr>
              <a:t>A star 20x the Sun burns hydrogen for millions of years.</a:t>
            </a:r>
          </a:p>
        </p:txBody>
      </p:sp>
      <p:sp>
        <p:nvSpPr>
          <p:cNvPr id="13" name="node1"/>
          <p:cNvSpPr/>
          <p:nvPr/>
        </p:nvSpPr>
        <p:spPr>
          <a:xfrm>
            <a:off x="3566160" y="3762756"/>
            <a:ext cx="274320" cy="274320"/>
          </a:xfrm>
          <a:prstGeom prst="ellipse">
            <a:avLst/>
          </a:prstGeom>
          <a:solidFill>
            <a:srgbClr val="0A0B1A"/>
          </a:solidFill>
          <a:ln w="28575">
            <a:solidFill>
              <a:srgbClr val="7C5C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abel1"/>
          <p:cNvSpPr txBox="1"/>
          <p:nvPr/>
        </p:nvSpPr>
        <p:spPr>
          <a:xfrm>
            <a:off x="356616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2D3EE"/>
                </a:solidFill>
                <a:latin typeface="Unbounded"/>
              </a:rPr>
              <a:t>Collapse</a:t>
            </a:r>
          </a:p>
        </p:txBody>
      </p:sp>
      <p:sp>
        <p:nvSpPr>
          <p:cNvPr id="15" name="step1"/>
          <p:cNvSpPr txBox="1"/>
          <p:nvPr/>
        </p:nvSpPr>
        <p:spPr>
          <a:xfrm>
            <a:off x="356616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4F5FF"/>
                </a:solidFill>
                <a:latin typeface="Unbounded"/>
              </a:rPr>
              <a:t>Fuel runs out. Gravity crushes the core in under a second.</a:t>
            </a:r>
          </a:p>
        </p:txBody>
      </p:sp>
      <p:sp>
        <p:nvSpPr>
          <p:cNvPr id="16" name="node2"/>
          <p:cNvSpPr/>
          <p:nvPr/>
        </p:nvSpPr>
        <p:spPr>
          <a:xfrm>
            <a:off x="6217920" y="3762756"/>
            <a:ext cx="274320" cy="274320"/>
          </a:xfrm>
          <a:prstGeom prst="ellipse">
            <a:avLst/>
          </a:prstGeom>
          <a:solidFill>
            <a:srgbClr val="0A0B1A"/>
          </a:solidFill>
          <a:ln w="28575">
            <a:solidFill>
              <a:srgbClr val="7C5C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abel2"/>
          <p:cNvSpPr txBox="1"/>
          <p:nvPr/>
        </p:nvSpPr>
        <p:spPr>
          <a:xfrm>
            <a:off x="621792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7C5CFF"/>
                </a:solidFill>
                <a:latin typeface="Unbounded"/>
              </a:rPr>
              <a:t>Supernova</a:t>
            </a:r>
          </a:p>
        </p:txBody>
      </p:sp>
      <p:sp>
        <p:nvSpPr>
          <p:cNvPr id="18" name="step2"/>
          <p:cNvSpPr txBox="1"/>
          <p:nvPr/>
        </p:nvSpPr>
        <p:spPr>
          <a:xfrm>
            <a:off x="621792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4F5FF"/>
                </a:solidFill>
                <a:latin typeface="Unbounded"/>
              </a:rPr>
              <a:t>The outer layers blast away in a blinding explosion.</a:t>
            </a:r>
          </a:p>
        </p:txBody>
      </p:sp>
      <p:sp>
        <p:nvSpPr>
          <p:cNvPr id="19" name="node3"/>
          <p:cNvSpPr/>
          <p:nvPr/>
        </p:nvSpPr>
        <p:spPr>
          <a:xfrm>
            <a:off x="8869680" y="3762756"/>
            <a:ext cx="274320" cy="274320"/>
          </a:xfrm>
          <a:prstGeom prst="ellipse">
            <a:avLst/>
          </a:prstGeom>
          <a:solidFill>
            <a:srgbClr val="0A0B1A"/>
          </a:solidFill>
          <a:ln w="28575">
            <a:solidFill>
              <a:srgbClr val="7C5C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label3"/>
          <p:cNvSpPr txBox="1"/>
          <p:nvPr/>
        </p:nvSpPr>
        <p:spPr>
          <a:xfrm>
            <a:off x="886968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2D3EE"/>
                </a:solidFill>
                <a:latin typeface="Unbounded"/>
              </a:rPr>
              <a:t>Singularity</a:t>
            </a:r>
          </a:p>
        </p:txBody>
      </p:sp>
      <p:sp>
        <p:nvSpPr>
          <p:cNvPr id="21" name="step3"/>
          <p:cNvSpPr txBox="1"/>
          <p:nvPr/>
        </p:nvSpPr>
        <p:spPr>
          <a:xfrm>
            <a:off x="886968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4F5FF"/>
                </a:solidFill>
                <a:latin typeface="Unbounded"/>
              </a:rPr>
              <a:t>The core keeps shrinking into a point of infinite density.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5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6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6217920" y="-54864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743200" y="384048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6800000">
            <a:off x="7223760" y="868680"/>
            <a:ext cx="5120640" cy="512064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064240" y="73152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617720"/>
            <a:ext cx="109728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6095848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value"/>
          <p:cNvSpPr txBox="1"/>
          <p:nvPr/>
        </p:nvSpPr>
        <p:spPr>
          <a:xfrm>
            <a:off x="822960" y="914400"/>
            <a:ext cx="6583680" cy="35661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>
              <a:lnSpc>
                <a:spcPct val="90000"/>
              </a:lnSpc>
            </a:pPr>
            <a:r>
              <a:rPr sz="14900" b="1">
                <a:solidFill>
                  <a:srgbClr val="F4F5FF"/>
                </a:solidFill>
                <a:latin typeface="Unbounded"/>
              </a:rPr>
              <a:t>6.5</a:t>
            </a:r>
            <a:r>
              <a:rPr sz="10400" b="1">
                <a:solidFill>
                  <a:srgbClr val="7C5CFF"/>
                </a:solidFill>
                <a:latin typeface="Unbounded"/>
              </a:rPr>
              <a:t>B</a:t>
            </a:r>
          </a:p>
        </p:txBody>
      </p:sp>
      <p:sp>
        <p:nvSpPr>
          <p:cNvPr id="10" name="label"/>
          <p:cNvSpPr txBox="1"/>
          <p:nvPr/>
        </p:nvSpPr>
        <p:spPr>
          <a:xfrm>
            <a:off x="822960" y="4846320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F4F5FF"/>
                </a:solidFill>
                <a:latin typeface="Unbounded"/>
              </a:rPr>
              <a:t>Solar masses in M87*</a:t>
            </a:r>
          </a:p>
        </p:txBody>
      </p:sp>
      <p:sp>
        <p:nvSpPr>
          <p:cNvPr id="11" name="note"/>
          <p:cNvSpPr txBox="1"/>
          <p:nvPr/>
        </p:nvSpPr>
        <p:spPr>
          <a:xfrm>
            <a:off x="822960" y="5532120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AA0C3"/>
                </a:solidFill>
                <a:latin typeface="Unbounded"/>
              </a:rPr>
              <a:t>The first black hole ever photographed, by the Event Horizon Telescope in 2019.</a:t>
            </a:r>
          </a:p>
        </p:txBody>
      </p:sp>
      <p:sp>
        <p:nvSpPr>
          <p:cNvPr id="12" name="context"/>
          <p:cNvSpPr txBox="1"/>
          <p:nvPr/>
        </p:nvSpPr>
        <p:spPr>
          <a:xfrm>
            <a:off x="8138160" y="251460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F4F5FF"/>
                </a:solidFill>
                <a:latin typeface="Unbounded"/>
              </a:rPr>
              <a:t>55 million light-years away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1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3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7772400" y="-365760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286000" y="402336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72E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21000000">
            <a:off x="9966960" y="-1463040"/>
            <a:ext cx="3108960" cy="310896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201400" y="50292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9164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7315017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Three kinds of black hole</a:t>
            </a:r>
          </a:p>
        </p:txBody>
      </p:sp>
      <p:sp>
        <p:nvSpPr>
          <p:cNvPr id="10" name="card0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15172E"/>
          </a:solidFill>
          <a:ln w="9525">
            <a:solidFill>
              <a:srgbClr val="7C5CFF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7C5CFF"/>
                </a:solidFill>
                <a:latin typeface="Unbounded"/>
              </a:rPr>
              <a:t>01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F4F5FF"/>
                </a:solidFill>
                <a:latin typeface="Unbounded"/>
              </a:rPr>
              <a:t>Stellar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5 to 100 Suns. Left behind by collapsing massive stars.</a:t>
            </a:r>
          </a:p>
        </p:txBody>
      </p:sp>
      <p:sp>
        <p:nvSpPr>
          <p:cNvPr id="11" name="card1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15172E"/>
          </a:solidFill>
          <a:ln w="9525">
            <a:solidFill>
              <a:srgbClr val="7C5CFF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7C5CFF"/>
                </a:solidFill>
                <a:latin typeface="Unbounded"/>
              </a:rPr>
              <a:t>02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F4F5FF"/>
                </a:solidFill>
                <a:latin typeface="Unbounded"/>
              </a:rPr>
              <a:t>Intermediate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Hundreds to thousands of Suns. Rare, and hard to find.</a:t>
            </a:r>
          </a:p>
        </p:txBody>
      </p:sp>
      <p:sp>
        <p:nvSpPr>
          <p:cNvPr id="12" name="card2"/>
          <p:cNvSpPr/>
          <p:nvPr/>
        </p:nvSpPr>
        <p:spPr>
          <a:xfrm>
            <a:off x="8036357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15172E"/>
          </a:solidFill>
          <a:ln w="9525">
            <a:solidFill>
              <a:srgbClr val="7C5CFF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7C5CFF"/>
                </a:solidFill>
                <a:latin typeface="Unbounded"/>
              </a:rPr>
              <a:t>03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F4F5FF"/>
                </a:solidFill>
                <a:latin typeface="Unbounded"/>
              </a:rPr>
              <a:t>Supermassive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Millions to billions of Suns. One sits at the centre of most galaxies.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6949440" y="54864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743200" y="-274320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3600000">
            <a:off x="8321040" y="1325880"/>
            <a:ext cx="4206240" cy="420624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8229600" y="109728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82880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8534187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640080"/>
            <a:ext cx="6949440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What happens if you fall in</a:t>
            </a:r>
          </a:p>
        </p:txBody>
      </p:sp>
      <p:sp>
        <p:nvSpPr>
          <p:cNvPr id="10" name="dot0"/>
          <p:cNvSpPr/>
          <p:nvPr/>
        </p:nvSpPr>
        <p:spPr>
          <a:xfrm>
            <a:off x="841248" y="2346960"/>
            <a:ext cx="128016" cy="128016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oint0"/>
          <p:cNvSpPr txBox="1"/>
          <p:nvPr/>
        </p:nvSpPr>
        <p:spPr>
          <a:xfrm>
            <a:off x="1234440" y="224028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4F5FF"/>
                </a:solidFill>
                <a:latin typeface="Unbounded"/>
              </a:rPr>
              <a:t>Time slows down for you, as seen from far away.</a:t>
            </a:r>
          </a:p>
        </p:txBody>
      </p:sp>
      <p:sp>
        <p:nvSpPr>
          <p:cNvPr id="12" name="dot1"/>
          <p:cNvSpPr/>
          <p:nvPr/>
        </p:nvSpPr>
        <p:spPr>
          <a:xfrm>
            <a:off x="841248" y="335280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oint1"/>
          <p:cNvSpPr txBox="1"/>
          <p:nvPr/>
        </p:nvSpPr>
        <p:spPr>
          <a:xfrm>
            <a:off x="1234440" y="324612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4F5FF"/>
                </a:solidFill>
                <a:latin typeface="Unbounded"/>
              </a:rPr>
              <a:t>Tidal forces stretch you thin: spaghettification.</a:t>
            </a:r>
          </a:p>
        </p:txBody>
      </p:sp>
      <p:sp>
        <p:nvSpPr>
          <p:cNvPr id="14" name="dot2"/>
          <p:cNvSpPr/>
          <p:nvPr/>
        </p:nvSpPr>
        <p:spPr>
          <a:xfrm>
            <a:off x="841248" y="4358640"/>
            <a:ext cx="128016" cy="128016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oint2"/>
          <p:cNvSpPr txBox="1"/>
          <p:nvPr/>
        </p:nvSpPr>
        <p:spPr>
          <a:xfrm>
            <a:off x="1234440" y="425196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4F5FF"/>
                </a:solidFill>
                <a:latin typeface="Unbounded"/>
              </a:rPr>
              <a:t>Past the event horizon, every path leads inward.</a:t>
            </a:r>
          </a:p>
        </p:txBody>
      </p:sp>
      <p:sp>
        <p:nvSpPr>
          <p:cNvPr id="16" name="dot3"/>
          <p:cNvSpPr/>
          <p:nvPr/>
        </p:nvSpPr>
        <p:spPr>
          <a:xfrm>
            <a:off x="841248" y="536448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oint3"/>
          <p:cNvSpPr txBox="1"/>
          <p:nvPr/>
        </p:nvSpPr>
        <p:spPr>
          <a:xfrm>
            <a:off x="1234440" y="525780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4F5FF"/>
                </a:solidFill>
                <a:latin typeface="Unbounded"/>
              </a:rPr>
              <a:t>No signal you send can ever get back out.</a:t>
            </a:r>
          </a:p>
        </p:txBody>
      </p:sp>
      <p:sp>
        <p:nvSpPr>
          <p:cNvPr id="18" name="aside"/>
          <p:cNvSpPr txBox="1"/>
          <p:nvPr/>
        </p:nvSpPr>
        <p:spPr>
          <a:xfrm>
            <a:off x="8686800" y="2377440"/>
            <a:ext cx="3108960" cy="2194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3000" b="1">
                <a:solidFill>
                  <a:srgbClr val="F4F5FF"/>
                </a:solidFill>
                <a:latin typeface="Unbounded"/>
              </a:rPr>
              <a:t>No way back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51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53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3291840" y="-411480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3291840" y="457200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6067044" y="1874520"/>
            <a:ext cx="54864" cy="429768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7800000">
            <a:off x="5458968" y="3081528"/>
            <a:ext cx="1280160" cy="128016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5916168" y="3538728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9164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9753356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Myth vs reality</a:t>
            </a:r>
          </a:p>
        </p:txBody>
      </p:sp>
      <p:sp>
        <p:nvSpPr>
          <p:cNvPr id="10" name="left"/>
          <p:cNvSpPr/>
          <p:nvPr/>
        </p:nvSpPr>
        <p:spPr>
          <a:xfrm>
            <a:off x="822960" y="1965960"/>
            <a:ext cx="4846320" cy="4114800"/>
          </a:xfrm>
          <a:prstGeom prst="roundRect">
            <a:avLst>
              <a:gd name="adj" fmla="val 5555"/>
            </a:avLst>
          </a:prstGeom>
          <a:solidFill>
            <a:srgbClr val="15172E"/>
          </a:solidFill>
          <a:ln>
            <a:noFill/>
          </a:ln>
        </p:spPr>
        <p:txBody>
          <a:bodyPr rtlCol="0" anchor="t" wrap="square" lIns="365760" rIns="365760" tIns="365760" bIns="36576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400" b="1" spc="300">
                <a:solidFill>
                  <a:srgbClr val="7C5CFF"/>
                </a:solidFill>
                <a:latin typeface="Unbounded"/>
              </a:rPr>
              <a:t>MYTH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They suck in everything nearby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They are holes in space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We can never see them</a:t>
            </a:r>
          </a:p>
        </p:txBody>
      </p:sp>
      <p:sp>
        <p:nvSpPr>
          <p:cNvPr id="11" name="right"/>
          <p:cNvSpPr/>
          <p:nvPr/>
        </p:nvSpPr>
        <p:spPr>
          <a:xfrm>
            <a:off x="6537960" y="1965960"/>
            <a:ext cx="4846320" cy="4114800"/>
          </a:xfrm>
          <a:prstGeom prst="roundRect">
            <a:avLst>
              <a:gd name="adj" fmla="val 5555"/>
            </a:avLst>
          </a:prstGeom>
          <a:solidFill>
            <a:srgbClr val="15172E"/>
          </a:solidFill>
          <a:ln>
            <a:noFill/>
          </a:ln>
        </p:spPr>
        <p:txBody>
          <a:bodyPr rtlCol="0" anchor="t" wrap="square" lIns="365760" rIns="365760" tIns="365760" bIns="36576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400" b="1" spc="300">
                <a:solidFill>
                  <a:srgbClr val="22D3EE"/>
                </a:solidFill>
                <a:latin typeface="Unbounded"/>
              </a:rPr>
              <a:t>REALITY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From far away they pull like any other mass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They are extremely dense objects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We image their glowing disks and shadows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743200" y="3200400"/>
            <a:ext cx="5943600" cy="59436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7315200" y="-137160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2000000">
            <a:off x="6949440" y="1371600"/>
            <a:ext cx="4114800" cy="41148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6629400" y="539496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301752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0972526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822960" y="1005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7C5CFF"/>
                </a:solidFill>
                <a:latin typeface="Unbounded"/>
              </a:rPr>
              <a:t>OPEN QUESTION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822960" y="1371600"/>
            <a:ext cx="5120640" cy="1554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500" b="1">
                <a:solidFill>
                  <a:srgbClr val="F4F5FF"/>
                </a:solidFill>
                <a:latin typeface="Unbounded"/>
              </a:rPr>
              <a:t>The information paradox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822960" y="333756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Hawking showed black holes slowly evaporate. If they vanish, what happens to the information about everything that fell in? Physicists are still arguing.</a:t>
            </a:r>
          </a:p>
        </p:txBody>
      </p:sp>
      <p:sp>
        <p:nvSpPr>
          <p:cNvPr id="12" name="aside"/>
          <p:cNvSpPr txBox="1"/>
          <p:nvPr/>
        </p:nvSpPr>
        <p:spPr>
          <a:xfrm>
            <a:off x="7315200" y="2194560"/>
            <a:ext cx="3291840" cy="2468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3400" b="1">
                <a:solidFill>
                  <a:srgbClr val="F4F5FF"/>
                </a:solidFill>
                <a:latin typeface="Unbounded"/>
              </a:rPr>
              <a:t>Where does it go?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1984248" y="-1216152"/>
            <a:ext cx="8229600" cy="82296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6200000">
            <a:off x="2441448" y="-758952"/>
            <a:ext cx="7315200" cy="73152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332720" y="539496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5641848" y="365760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2898648" y="1234440"/>
            <a:ext cx="6400800" cy="2240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4900" b="1">
                <a:solidFill>
                  <a:srgbClr val="F4F5FF"/>
                </a:solidFill>
                <a:latin typeface="Unbounded"/>
              </a:rPr>
              <a:t>The universe is stranger than we think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3127248" y="39319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Thank you. 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1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Holes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