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1080000">
            <a:off x="7135978" y="-544982"/>
            <a:ext cx="5661965" cy="5661965"/>
          </a:xfrm>
          <a:prstGeom prst="roundRect">
            <a:avLst>
              <a:gd name="adj" fmla="val 6000"/>
            </a:avLst>
          </a:prstGeom>
          <a:solidFill>
            <a:srgbClr val="FF6A3D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>
            <a:off x="-1865376" y="3803904"/>
            <a:ext cx="4096512" cy="4096512"/>
          </a:xfrm>
          <a:prstGeom prst="triangle">
            <a:avLst/>
          </a:prstGeom>
          <a:solidFill>
            <a:srgbClr val="FFB54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A3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>
            <a:off x="8051292" y="1010412"/>
            <a:ext cx="4197096" cy="4197096"/>
          </a:xfrm>
          <a:prstGeom prst="diamond">
            <a:avLst/>
          </a:prstGeom>
          <a:noFill/>
          <a:ln w="25400">
            <a:solidFill>
              <a:srgbClr val="FFB547">
                <a:alpha val="7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 rot="2700000">
            <a:off x="10661904" y="5266944"/>
            <a:ext cx="438912" cy="43891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4617720"/>
            <a:ext cx="1371600" cy="82296"/>
          </a:xfrm>
          <a:prstGeom prst="rect">
            <a:avLst/>
          </a:prstGeom>
          <a:solidFill>
            <a:srgbClr val="FF6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219170" cy="64008"/>
          </a:xfrm>
          <a:prstGeom prst="rect">
            <a:avLst/>
          </a:prstGeom>
          <a:solidFill>
            <a:srgbClr val="FFB547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400">
                <a:solidFill>
                  <a:srgbClr val="FF6A3D"/>
                </a:solidFill>
                <a:latin typeface="Unbounded"/>
              </a:rPr>
              <a:t>A JOURNEY TO THE EDGE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822960" y="1783080"/>
            <a:ext cx="7589520" cy="26974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6600" b="1">
                <a:solidFill>
                  <a:srgbClr val="FFF1E8"/>
                </a:solidFill>
                <a:latin typeface="Unbounded"/>
              </a:rPr>
              <a:t>Black Holes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822960" y="4937760"/>
            <a:ext cx="69494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C9A89A"/>
                </a:solidFill>
                <a:latin typeface="Unbounded"/>
              </a:rPr>
              <a:t>Where gravity wins, light gives up, and physics gets weird.</a:t>
            </a:r>
          </a:p>
        </p:txBody>
      </p:sp>
      <p:sp>
        <p:nvSpPr>
          <p:cNvPr id="12" name="byline"/>
          <p:cNvSpPr txBox="1"/>
          <p:nvPr/>
        </p:nvSpPr>
        <p:spPr>
          <a:xfrm>
            <a:off x="822960" y="61722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9A89A"/>
                </a:solidFill>
                <a:latin typeface="Unbounded"/>
              </a:rPr>
              <a:t>Astronomy 101 · Guest lecture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20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22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760000">
            <a:off x="-1773936" y="-1773936"/>
            <a:ext cx="5925312" cy="5925312"/>
          </a:xfrm>
          <a:prstGeom prst="roundRect">
            <a:avLst>
              <a:gd name="adj" fmla="val 6000"/>
            </a:avLst>
          </a:prstGeom>
          <a:solidFill>
            <a:srgbClr val="FF6A3D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19500000">
            <a:off x="8961120" y="3657600"/>
            <a:ext cx="4389120" cy="4389120"/>
          </a:xfrm>
          <a:prstGeom prst="triangle">
            <a:avLst/>
          </a:prstGeom>
          <a:solidFill>
            <a:srgbClr val="FFB54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1188720" y="1051560"/>
            <a:ext cx="9784080" cy="4754880"/>
          </a:xfrm>
          <a:prstGeom prst="rect">
            <a:avLst/>
          </a:prstGeom>
          <a:solidFill>
            <a:srgbClr val="26140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4200000">
            <a:off x="-1421892" y="4155948"/>
            <a:ext cx="3575304" cy="3575304"/>
          </a:xfrm>
          <a:prstGeom prst="diamond">
            <a:avLst/>
          </a:prstGeom>
          <a:noFill/>
          <a:ln w="25400">
            <a:solidFill>
              <a:srgbClr val="FFB547">
                <a:alpha val="7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 rot="6900000">
            <a:off x="11013948" y="864108"/>
            <a:ext cx="329184" cy="329184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1783080" y="1600200"/>
            <a:ext cx="822960" cy="82296"/>
          </a:xfrm>
          <a:prstGeom prst="rect">
            <a:avLst/>
          </a:prstGeom>
          <a:solidFill>
            <a:srgbClr val="FF6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2438339" cy="64008"/>
          </a:xfrm>
          <a:prstGeom prst="rect">
            <a:avLst/>
          </a:prstGeom>
          <a:solidFill>
            <a:srgbClr val="FFB547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tement"/>
          <p:cNvSpPr txBox="1"/>
          <p:nvPr/>
        </p:nvSpPr>
        <p:spPr>
          <a:xfrm>
            <a:off x="1783080" y="1874520"/>
            <a:ext cx="8778240" cy="2926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1E8"/>
                </a:solidFill>
                <a:latin typeface="Unbounded"/>
              </a:rPr>
              <a:t>A black hole is not a hole. It is matter squeezed so tight that nothing can escape it.</a:t>
            </a:r>
          </a:p>
        </p:txBody>
      </p:sp>
      <p:sp>
        <p:nvSpPr>
          <p:cNvPr id="10" name="attribution"/>
          <p:cNvSpPr txBox="1"/>
          <p:nvPr/>
        </p:nvSpPr>
        <p:spPr>
          <a:xfrm>
            <a:off x="1783080" y="498348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6A3D"/>
                </a:solidFill>
                <a:latin typeface="Unbounded"/>
              </a:rPr>
              <a:t>— The short version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2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13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15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4440000">
            <a:off x="-1069848" y="-612648"/>
            <a:ext cx="6254496" cy="6254496"/>
          </a:xfrm>
          <a:prstGeom prst="roundRect">
            <a:avLst>
              <a:gd name="adj" fmla="val 6000"/>
            </a:avLst>
          </a:prstGeom>
          <a:solidFill>
            <a:srgbClr val="FF6A3D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17400000">
            <a:off x="9144000" y="4114800"/>
            <a:ext cx="3657600" cy="3657600"/>
          </a:xfrm>
          <a:prstGeom prst="triangle">
            <a:avLst/>
          </a:prstGeom>
          <a:solidFill>
            <a:srgbClr val="FFB54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A3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8400000">
            <a:off x="1165860" y="1485900"/>
            <a:ext cx="3886200" cy="3886200"/>
          </a:xfrm>
          <a:prstGeom prst="diamond">
            <a:avLst/>
          </a:prstGeom>
          <a:noFill/>
          <a:ln w="25400">
            <a:solidFill>
              <a:srgbClr val="FFB547">
                <a:alpha val="7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 rot="11100000">
            <a:off x="4983480" y="1280160"/>
            <a:ext cx="365760" cy="36576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6035040" y="3886200"/>
            <a:ext cx="1097280" cy="82296"/>
          </a:xfrm>
          <a:prstGeom prst="rect">
            <a:avLst/>
          </a:prstGeom>
          <a:solidFill>
            <a:srgbClr val="FF6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3657509" cy="64008"/>
          </a:xfrm>
          <a:prstGeom prst="rect">
            <a:avLst/>
          </a:prstGeom>
          <a:solidFill>
            <a:srgbClr val="FFB547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umber"/>
          <p:cNvSpPr txBox="1"/>
          <p:nvPr/>
        </p:nvSpPr>
        <p:spPr>
          <a:xfrm>
            <a:off x="822960" y="1143000"/>
            <a:ext cx="4572000" cy="4572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0" b="1">
                <a:solidFill>
                  <a:srgbClr val="FF6A3D"/>
                </a:solidFill>
                <a:latin typeface="Unbounded"/>
              </a:rPr>
              <a:t>01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6035040" y="1188720"/>
            <a:ext cx="5486400" cy="256032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000" b="1">
                <a:solidFill>
                  <a:srgbClr val="FFF1E8"/>
                </a:solidFill>
                <a:latin typeface="Unbounded"/>
              </a:rPr>
              <a:t>How they are born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6035040" y="420624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C9A89A"/>
                </a:solidFill>
                <a:latin typeface="Unbounded"/>
              </a:rPr>
              <a:t>Most black holes start as giant stars that run out of fuel.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19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21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6120000">
            <a:off x="-2176272" y="-3090672"/>
            <a:ext cx="5266944" cy="5266944"/>
          </a:xfrm>
          <a:prstGeom prst="roundRect">
            <a:avLst>
              <a:gd name="adj" fmla="val 6000"/>
            </a:avLst>
          </a:prstGeom>
          <a:solidFill>
            <a:srgbClr val="FF6A3D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15300000">
            <a:off x="9308592" y="4096512"/>
            <a:ext cx="4242816" cy="4242816"/>
          </a:xfrm>
          <a:prstGeom prst="triangle">
            <a:avLst/>
          </a:prstGeom>
          <a:solidFill>
            <a:srgbClr val="FFB54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A3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2600000">
            <a:off x="10474452" y="-1046988"/>
            <a:ext cx="2642616" cy="2642616"/>
          </a:xfrm>
          <a:prstGeom prst="diamond">
            <a:avLst/>
          </a:prstGeom>
          <a:noFill/>
          <a:ln w="25400">
            <a:solidFill>
              <a:srgbClr val="FFB547">
                <a:alpha val="7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 rot="15300000">
            <a:off x="594360" y="3803904"/>
            <a:ext cx="219456" cy="21945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3877056"/>
            <a:ext cx="10607040" cy="45720"/>
          </a:xfrm>
          <a:prstGeom prst="rect">
            <a:avLst/>
          </a:prstGeom>
          <a:solidFill>
            <a:srgbClr val="FF6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4876678" cy="64008"/>
          </a:xfrm>
          <a:prstGeom prst="rect">
            <a:avLst/>
          </a:prstGeom>
          <a:solidFill>
            <a:srgbClr val="FFB547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1E8"/>
                </a:solidFill>
                <a:latin typeface="Unbounded"/>
              </a:rPr>
              <a:t>The death of a giant star</a:t>
            </a:r>
          </a:p>
        </p:txBody>
      </p:sp>
      <p:sp>
        <p:nvSpPr>
          <p:cNvPr id="10" name="node0"/>
          <p:cNvSpPr/>
          <p:nvPr/>
        </p:nvSpPr>
        <p:spPr>
          <a:xfrm>
            <a:off x="914400" y="3762756"/>
            <a:ext cx="274320" cy="274320"/>
          </a:xfrm>
          <a:prstGeom prst="ellipse">
            <a:avLst/>
          </a:prstGeom>
          <a:solidFill>
            <a:srgbClr val="150B09"/>
          </a:solidFill>
          <a:ln w="28575">
            <a:solidFill>
              <a:srgbClr val="FF6A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abel0"/>
          <p:cNvSpPr txBox="1"/>
          <p:nvPr/>
        </p:nvSpPr>
        <p:spPr>
          <a:xfrm>
            <a:off x="91440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6A3D"/>
                </a:solidFill>
                <a:latin typeface="Unbounded"/>
              </a:rPr>
              <a:t>Fuel</a:t>
            </a:r>
          </a:p>
        </p:txBody>
      </p:sp>
      <p:sp>
        <p:nvSpPr>
          <p:cNvPr id="12" name="step0"/>
          <p:cNvSpPr txBox="1"/>
          <p:nvPr/>
        </p:nvSpPr>
        <p:spPr>
          <a:xfrm>
            <a:off x="91440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1E8"/>
                </a:solidFill>
                <a:latin typeface="Unbounded"/>
              </a:rPr>
              <a:t>A star 20x the Sun burns hydrogen for millions of years.</a:t>
            </a:r>
          </a:p>
        </p:txBody>
      </p:sp>
      <p:sp>
        <p:nvSpPr>
          <p:cNvPr id="13" name="node1"/>
          <p:cNvSpPr/>
          <p:nvPr/>
        </p:nvSpPr>
        <p:spPr>
          <a:xfrm>
            <a:off x="3566160" y="3762756"/>
            <a:ext cx="274320" cy="274320"/>
          </a:xfrm>
          <a:prstGeom prst="ellipse">
            <a:avLst/>
          </a:prstGeom>
          <a:solidFill>
            <a:srgbClr val="150B09"/>
          </a:solidFill>
          <a:ln w="28575">
            <a:solidFill>
              <a:srgbClr val="FF6A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abel1"/>
          <p:cNvSpPr txBox="1"/>
          <p:nvPr/>
        </p:nvSpPr>
        <p:spPr>
          <a:xfrm>
            <a:off x="356616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B547"/>
                </a:solidFill>
                <a:latin typeface="Unbounded"/>
              </a:rPr>
              <a:t>Collapse</a:t>
            </a:r>
          </a:p>
        </p:txBody>
      </p:sp>
      <p:sp>
        <p:nvSpPr>
          <p:cNvPr id="15" name="step1"/>
          <p:cNvSpPr txBox="1"/>
          <p:nvPr/>
        </p:nvSpPr>
        <p:spPr>
          <a:xfrm>
            <a:off x="356616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1E8"/>
                </a:solidFill>
                <a:latin typeface="Unbounded"/>
              </a:rPr>
              <a:t>Fuel runs out. Gravity crushes the core in under a second.</a:t>
            </a:r>
          </a:p>
        </p:txBody>
      </p:sp>
      <p:sp>
        <p:nvSpPr>
          <p:cNvPr id="16" name="node2"/>
          <p:cNvSpPr/>
          <p:nvPr/>
        </p:nvSpPr>
        <p:spPr>
          <a:xfrm>
            <a:off x="6217920" y="3762756"/>
            <a:ext cx="274320" cy="274320"/>
          </a:xfrm>
          <a:prstGeom prst="ellipse">
            <a:avLst/>
          </a:prstGeom>
          <a:solidFill>
            <a:srgbClr val="150B09"/>
          </a:solidFill>
          <a:ln w="28575">
            <a:solidFill>
              <a:srgbClr val="FF6A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abel2"/>
          <p:cNvSpPr txBox="1"/>
          <p:nvPr/>
        </p:nvSpPr>
        <p:spPr>
          <a:xfrm>
            <a:off x="621792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6A3D"/>
                </a:solidFill>
                <a:latin typeface="Unbounded"/>
              </a:rPr>
              <a:t>Supernova</a:t>
            </a:r>
          </a:p>
        </p:txBody>
      </p:sp>
      <p:sp>
        <p:nvSpPr>
          <p:cNvPr id="18" name="step2"/>
          <p:cNvSpPr txBox="1"/>
          <p:nvPr/>
        </p:nvSpPr>
        <p:spPr>
          <a:xfrm>
            <a:off x="621792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1E8"/>
                </a:solidFill>
                <a:latin typeface="Unbounded"/>
              </a:rPr>
              <a:t>The outer layers blast away in a blinding explosion.</a:t>
            </a:r>
          </a:p>
        </p:txBody>
      </p:sp>
      <p:sp>
        <p:nvSpPr>
          <p:cNvPr id="19" name="node3"/>
          <p:cNvSpPr/>
          <p:nvPr/>
        </p:nvSpPr>
        <p:spPr>
          <a:xfrm>
            <a:off x="8869680" y="3762756"/>
            <a:ext cx="274320" cy="274320"/>
          </a:xfrm>
          <a:prstGeom prst="ellipse">
            <a:avLst/>
          </a:prstGeom>
          <a:solidFill>
            <a:srgbClr val="150B09"/>
          </a:solidFill>
          <a:ln w="28575">
            <a:solidFill>
              <a:srgbClr val="FF6A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label3"/>
          <p:cNvSpPr txBox="1"/>
          <p:nvPr/>
        </p:nvSpPr>
        <p:spPr>
          <a:xfrm>
            <a:off x="8869680" y="2606040"/>
            <a:ext cx="2377440" cy="91440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B547"/>
                </a:solidFill>
                <a:latin typeface="Unbounded"/>
              </a:rPr>
              <a:t>Singularity</a:t>
            </a:r>
          </a:p>
        </p:txBody>
      </p:sp>
      <p:sp>
        <p:nvSpPr>
          <p:cNvPr id="21" name="step3"/>
          <p:cNvSpPr txBox="1"/>
          <p:nvPr/>
        </p:nvSpPr>
        <p:spPr>
          <a:xfrm>
            <a:off x="8869680" y="4343400"/>
            <a:ext cx="23774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FF1E8"/>
                </a:solidFill>
                <a:latin typeface="Unbounded"/>
              </a:rPr>
              <a:t>The core keeps shrinking into a point of infinite density.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58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6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7800000">
            <a:off x="7242048" y="475488"/>
            <a:ext cx="5266944" cy="5266944"/>
          </a:xfrm>
          <a:prstGeom prst="roundRect">
            <a:avLst>
              <a:gd name="adj" fmla="val 6000"/>
            </a:avLst>
          </a:prstGeom>
          <a:solidFill>
            <a:srgbClr val="FF6A3D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13200000">
            <a:off x="-2240280" y="4343400"/>
            <a:ext cx="4023360" cy="4023360"/>
          </a:xfrm>
          <a:prstGeom prst="triangle">
            <a:avLst/>
          </a:prstGeom>
          <a:solidFill>
            <a:srgbClr val="FFB54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A3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6800000">
            <a:off x="7607808" y="1252728"/>
            <a:ext cx="4352544" cy="4352544"/>
          </a:xfrm>
          <a:prstGeom prst="diamond">
            <a:avLst/>
          </a:prstGeom>
          <a:noFill/>
          <a:ln w="25400">
            <a:solidFill>
              <a:srgbClr val="FFB547">
                <a:alpha val="7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 rot="19500000">
            <a:off x="11109960" y="777240"/>
            <a:ext cx="365760" cy="36576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4617720"/>
            <a:ext cx="1097280" cy="82296"/>
          </a:xfrm>
          <a:prstGeom prst="rect">
            <a:avLst/>
          </a:prstGeom>
          <a:solidFill>
            <a:srgbClr val="FF6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6095848" cy="64008"/>
          </a:xfrm>
          <a:prstGeom prst="rect">
            <a:avLst/>
          </a:prstGeom>
          <a:solidFill>
            <a:srgbClr val="FFB547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value"/>
          <p:cNvSpPr txBox="1"/>
          <p:nvPr/>
        </p:nvSpPr>
        <p:spPr>
          <a:xfrm>
            <a:off x="822960" y="914400"/>
            <a:ext cx="6583680" cy="35661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>
              <a:lnSpc>
                <a:spcPct val="90000"/>
              </a:lnSpc>
            </a:pPr>
            <a:r>
              <a:rPr sz="14900" b="1">
                <a:solidFill>
                  <a:srgbClr val="FFF1E8"/>
                </a:solidFill>
                <a:latin typeface="Unbounded"/>
              </a:rPr>
              <a:t>6.5</a:t>
            </a:r>
            <a:r>
              <a:rPr sz="10400" b="1">
                <a:solidFill>
                  <a:srgbClr val="FF6A3D"/>
                </a:solidFill>
                <a:latin typeface="Unbounded"/>
              </a:rPr>
              <a:t>B</a:t>
            </a:r>
          </a:p>
        </p:txBody>
      </p:sp>
      <p:sp>
        <p:nvSpPr>
          <p:cNvPr id="10" name="label"/>
          <p:cNvSpPr txBox="1"/>
          <p:nvPr/>
        </p:nvSpPr>
        <p:spPr>
          <a:xfrm>
            <a:off x="822960" y="4846320"/>
            <a:ext cx="621792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FFF1E8"/>
                </a:solidFill>
                <a:latin typeface="Unbounded"/>
              </a:rPr>
              <a:t>Solar masses in M87*</a:t>
            </a:r>
          </a:p>
        </p:txBody>
      </p:sp>
      <p:sp>
        <p:nvSpPr>
          <p:cNvPr id="11" name="note"/>
          <p:cNvSpPr txBox="1"/>
          <p:nvPr/>
        </p:nvSpPr>
        <p:spPr>
          <a:xfrm>
            <a:off x="822960" y="5532120"/>
            <a:ext cx="62179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C9A89A"/>
                </a:solidFill>
                <a:latin typeface="Unbounded"/>
              </a:rPr>
              <a:t>The first black hole ever photographed, by the Event Horizon Telescope in 2019.</a:t>
            </a:r>
          </a:p>
        </p:txBody>
      </p:sp>
      <p:sp>
        <p:nvSpPr>
          <p:cNvPr id="12" name="context"/>
          <p:cNvSpPr txBox="1"/>
          <p:nvPr/>
        </p:nvSpPr>
        <p:spPr>
          <a:xfrm>
            <a:off x="8138160" y="2514600"/>
            <a:ext cx="3291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FFF1E8"/>
                </a:solidFill>
                <a:latin typeface="Unbounded"/>
              </a:rPr>
              <a:t>55 million light-years away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21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23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9480000">
            <a:off x="8732520" y="-2697480"/>
            <a:ext cx="4937760" cy="4937760"/>
          </a:xfrm>
          <a:prstGeom prst="roundRect">
            <a:avLst>
              <a:gd name="adj" fmla="val 6000"/>
            </a:avLst>
          </a:prstGeom>
          <a:solidFill>
            <a:srgbClr val="FF6A3D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11100000">
            <a:off x="-1783080" y="4526280"/>
            <a:ext cx="4023360" cy="4023360"/>
          </a:xfrm>
          <a:prstGeom prst="triangle">
            <a:avLst/>
          </a:prstGeom>
          <a:solidFill>
            <a:srgbClr val="FFB54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6140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21000000">
            <a:off x="10200132" y="-1229868"/>
            <a:ext cx="2642616" cy="2642616"/>
          </a:xfrm>
          <a:prstGeom prst="diamond">
            <a:avLst/>
          </a:prstGeom>
          <a:noFill/>
          <a:ln w="25400">
            <a:solidFill>
              <a:srgbClr val="FFB547">
                <a:alpha val="7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 rot="2100000">
            <a:off x="11237976" y="539496"/>
            <a:ext cx="292608" cy="292608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91640"/>
            <a:ext cx="914400" cy="82296"/>
          </a:xfrm>
          <a:prstGeom prst="rect">
            <a:avLst/>
          </a:prstGeom>
          <a:solidFill>
            <a:srgbClr val="FF6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7315017" cy="64008"/>
          </a:xfrm>
          <a:prstGeom prst="rect">
            <a:avLst/>
          </a:prstGeom>
          <a:solidFill>
            <a:srgbClr val="FFB547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1E8"/>
                </a:solidFill>
                <a:latin typeface="Unbounded"/>
              </a:rPr>
              <a:t>Three kinds of black hole</a:t>
            </a:r>
          </a:p>
        </p:txBody>
      </p:sp>
      <p:sp>
        <p:nvSpPr>
          <p:cNvPr id="10" name="card0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859"/>
            </a:avLst>
          </a:prstGeom>
          <a:solidFill>
            <a:srgbClr val="26140F"/>
          </a:solidFill>
          <a:ln w="9525">
            <a:solidFill>
              <a:srgbClr val="FF6A3D">
                <a:alpha val="35000"/>
              </a:srgbClr>
            </a:solidFill>
          </a:ln>
        </p:spPr>
        <p:txBody>
          <a:bodyPr rtlCol="0" anchor="t" wrap="square" lIns="292608" rIns="292608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FF6A3D"/>
                </a:solidFill>
                <a:latin typeface="Unbounded"/>
              </a:rPr>
              <a:t>01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FFF1E8"/>
                </a:solidFill>
                <a:latin typeface="Unbounded"/>
              </a:rPr>
              <a:t>Stellar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C9A89A"/>
                </a:solidFill>
                <a:latin typeface="Unbounded"/>
              </a:rPr>
              <a:t>5 to 100 Suns. Left behind by collapsing massive stars.</a:t>
            </a:r>
          </a:p>
        </p:txBody>
      </p:sp>
      <p:sp>
        <p:nvSpPr>
          <p:cNvPr id="11" name="card1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859"/>
            </a:avLst>
          </a:prstGeom>
          <a:solidFill>
            <a:srgbClr val="26140F"/>
          </a:solidFill>
          <a:ln w="9525">
            <a:solidFill>
              <a:srgbClr val="FF6A3D">
                <a:alpha val="35000"/>
              </a:srgbClr>
            </a:solidFill>
          </a:ln>
        </p:spPr>
        <p:txBody>
          <a:bodyPr rtlCol="0" anchor="t" wrap="square" lIns="292608" rIns="292608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FF6A3D"/>
                </a:solidFill>
                <a:latin typeface="Unbounded"/>
              </a:rPr>
              <a:t>02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FFF1E8"/>
                </a:solidFill>
                <a:latin typeface="Unbounded"/>
              </a:rPr>
              <a:t>Intermediate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C9A89A"/>
                </a:solidFill>
                <a:latin typeface="Unbounded"/>
              </a:rPr>
              <a:t>Hundreds to thousands of Suns. Rare, and hard to find.</a:t>
            </a:r>
          </a:p>
        </p:txBody>
      </p:sp>
      <p:sp>
        <p:nvSpPr>
          <p:cNvPr id="12" name="card2"/>
          <p:cNvSpPr/>
          <p:nvPr/>
        </p:nvSpPr>
        <p:spPr>
          <a:xfrm>
            <a:off x="8036357" y="2148840"/>
            <a:ext cx="3332378" cy="3794760"/>
          </a:xfrm>
          <a:prstGeom prst="roundRect">
            <a:avLst>
              <a:gd name="adj" fmla="val 6859"/>
            </a:avLst>
          </a:prstGeom>
          <a:solidFill>
            <a:srgbClr val="26140F"/>
          </a:solidFill>
          <a:ln w="9525">
            <a:solidFill>
              <a:srgbClr val="FF6A3D">
                <a:alpha val="35000"/>
              </a:srgbClr>
            </a:solidFill>
          </a:ln>
        </p:spPr>
        <p:txBody>
          <a:bodyPr rtlCol="0" anchor="t" wrap="square" lIns="292608" rIns="292608" tIns="292608" bIns="292608">
            <a:no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400" b="1">
                <a:solidFill>
                  <a:srgbClr val="FF6A3D"/>
                </a:solidFill>
                <a:latin typeface="Unbounded"/>
              </a:rPr>
              <a:t>03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FFF1E8"/>
                </a:solidFill>
                <a:latin typeface="Unbounded"/>
              </a:rPr>
              <a:t>Supermassive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C9A89A"/>
                </a:solidFill>
                <a:latin typeface="Unbounded"/>
              </a:rPr>
              <a:t>Millions to billions of Suns. One sits at the centre of most galaxies.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2520000">
            <a:off x="7973568" y="1572768"/>
            <a:ext cx="5266944" cy="5266944"/>
          </a:xfrm>
          <a:prstGeom prst="roundRect">
            <a:avLst>
              <a:gd name="adj" fmla="val 6000"/>
            </a:avLst>
          </a:prstGeom>
          <a:solidFill>
            <a:srgbClr val="FF6A3D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19800000">
            <a:off x="-2240280" y="-2240280"/>
            <a:ext cx="4023360" cy="4023360"/>
          </a:xfrm>
          <a:prstGeom prst="triangle">
            <a:avLst/>
          </a:prstGeom>
          <a:solidFill>
            <a:srgbClr val="FFB54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26140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3600000">
            <a:off x="8636508" y="1641348"/>
            <a:ext cx="3575304" cy="3575304"/>
          </a:xfrm>
          <a:prstGeom prst="diamond">
            <a:avLst/>
          </a:prstGeom>
          <a:noFill/>
          <a:ln w="25400">
            <a:solidFill>
              <a:srgbClr val="FFB547">
                <a:alpha val="7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 rot="6300000">
            <a:off x="8279892" y="1147572"/>
            <a:ext cx="402336" cy="402336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828800"/>
            <a:ext cx="914400" cy="82296"/>
          </a:xfrm>
          <a:prstGeom prst="rect">
            <a:avLst/>
          </a:prstGeom>
          <a:solidFill>
            <a:srgbClr val="FF6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8534187" cy="64008"/>
          </a:xfrm>
          <a:prstGeom prst="rect">
            <a:avLst/>
          </a:prstGeom>
          <a:solidFill>
            <a:srgbClr val="FFB547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640080"/>
            <a:ext cx="6949440" cy="1097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1E8"/>
                </a:solidFill>
                <a:latin typeface="Unbounded"/>
              </a:rPr>
              <a:t>What happens if you fall in</a:t>
            </a:r>
          </a:p>
        </p:txBody>
      </p:sp>
      <p:sp>
        <p:nvSpPr>
          <p:cNvPr id="10" name="dot0"/>
          <p:cNvSpPr/>
          <p:nvPr/>
        </p:nvSpPr>
        <p:spPr>
          <a:xfrm>
            <a:off x="841248" y="2346960"/>
            <a:ext cx="128016" cy="128016"/>
          </a:xfrm>
          <a:prstGeom prst="ellipse">
            <a:avLst/>
          </a:prstGeom>
          <a:solidFill>
            <a:srgbClr val="FF6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oint0"/>
          <p:cNvSpPr txBox="1"/>
          <p:nvPr/>
        </p:nvSpPr>
        <p:spPr>
          <a:xfrm>
            <a:off x="1234440" y="224028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1E8"/>
                </a:solidFill>
                <a:latin typeface="Unbounded"/>
              </a:rPr>
              <a:t>Time slows down for you, as seen from far away.</a:t>
            </a:r>
          </a:p>
        </p:txBody>
      </p:sp>
      <p:sp>
        <p:nvSpPr>
          <p:cNvPr id="12" name="dot1"/>
          <p:cNvSpPr/>
          <p:nvPr/>
        </p:nvSpPr>
        <p:spPr>
          <a:xfrm>
            <a:off x="841248" y="3352800"/>
            <a:ext cx="128016" cy="128016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oint1"/>
          <p:cNvSpPr txBox="1"/>
          <p:nvPr/>
        </p:nvSpPr>
        <p:spPr>
          <a:xfrm>
            <a:off x="1234440" y="324612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1E8"/>
                </a:solidFill>
                <a:latin typeface="Unbounded"/>
              </a:rPr>
              <a:t>Tidal forces stretch you thin: spaghettification.</a:t>
            </a:r>
          </a:p>
        </p:txBody>
      </p:sp>
      <p:sp>
        <p:nvSpPr>
          <p:cNvPr id="14" name="dot2"/>
          <p:cNvSpPr/>
          <p:nvPr/>
        </p:nvSpPr>
        <p:spPr>
          <a:xfrm>
            <a:off x="841248" y="4358640"/>
            <a:ext cx="128016" cy="128016"/>
          </a:xfrm>
          <a:prstGeom prst="ellipse">
            <a:avLst/>
          </a:prstGeom>
          <a:solidFill>
            <a:srgbClr val="FF6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oint2"/>
          <p:cNvSpPr txBox="1"/>
          <p:nvPr/>
        </p:nvSpPr>
        <p:spPr>
          <a:xfrm>
            <a:off x="1234440" y="425196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1E8"/>
                </a:solidFill>
                <a:latin typeface="Unbounded"/>
              </a:rPr>
              <a:t>Past the event horizon, every path leads inward.</a:t>
            </a:r>
          </a:p>
        </p:txBody>
      </p:sp>
      <p:sp>
        <p:nvSpPr>
          <p:cNvPr id="16" name="dot3"/>
          <p:cNvSpPr/>
          <p:nvPr/>
        </p:nvSpPr>
        <p:spPr>
          <a:xfrm>
            <a:off x="841248" y="5364480"/>
            <a:ext cx="128016" cy="128016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oint3"/>
          <p:cNvSpPr txBox="1"/>
          <p:nvPr/>
        </p:nvSpPr>
        <p:spPr>
          <a:xfrm>
            <a:off x="1234440" y="525780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FF1E8"/>
                </a:solidFill>
                <a:latin typeface="Unbounded"/>
              </a:rPr>
              <a:t>No signal you send can ever get back out.</a:t>
            </a:r>
          </a:p>
        </p:txBody>
      </p:sp>
      <p:sp>
        <p:nvSpPr>
          <p:cNvPr id="18" name="aside"/>
          <p:cNvSpPr txBox="1"/>
          <p:nvPr/>
        </p:nvSpPr>
        <p:spPr>
          <a:xfrm>
            <a:off x="8686800" y="2377440"/>
            <a:ext cx="3108960" cy="2194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3000" b="1">
                <a:solidFill>
                  <a:srgbClr val="FFF1E8"/>
                </a:solidFill>
                <a:latin typeface="Unbounded"/>
              </a:rPr>
              <a:t>No way back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51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53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4200000">
            <a:off x="4059936" y="-3346704"/>
            <a:ext cx="3950208" cy="3950208"/>
          </a:xfrm>
          <a:prstGeom prst="roundRect">
            <a:avLst>
              <a:gd name="adj" fmla="val 6000"/>
            </a:avLst>
          </a:prstGeom>
          <a:solidFill>
            <a:srgbClr val="FF6A3D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17700000">
            <a:off x="3840480" y="5120640"/>
            <a:ext cx="4389120" cy="4389120"/>
          </a:xfrm>
          <a:prstGeom prst="triangle">
            <a:avLst/>
          </a:prstGeom>
          <a:solidFill>
            <a:srgbClr val="FFB54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6067044" y="1874520"/>
            <a:ext cx="54864" cy="4297680"/>
          </a:xfrm>
          <a:prstGeom prst="rect">
            <a:avLst/>
          </a:prstGeom>
          <a:solidFill>
            <a:srgbClr val="FF6A3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7800000">
            <a:off x="5554980" y="3177540"/>
            <a:ext cx="1088136" cy="1088136"/>
          </a:xfrm>
          <a:prstGeom prst="diamond">
            <a:avLst/>
          </a:prstGeom>
          <a:noFill/>
          <a:ln w="25400">
            <a:solidFill>
              <a:srgbClr val="FFB547">
                <a:alpha val="7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 rot="10500000">
            <a:off x="5952744" y="3575304"/>
            <a:ext cx="292608" cy="292608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1691640"/>
            <a:ext cx="914400" cy="82296"/>
          </a:xfrm>
          <a:prstGeom prst="rect">
            <a:avLst/>
          </a:prstGeom>
          <a:solidFill>
            <a:srgbClr val="FF6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9753356" cy="64008"/>
          </a:xfrm>
          <a:prstGeom prst="rect">
            <a:avLst/>
          </a:prstGeom>
          <a:solidFill>
            <a:srgbClr val="FFB547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822960" y="502920"/>
            <a:ext cx="10515600" cy="105156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1E8"/>
                </a:solidFill>
                <a:latin typeface="Unbounded"/>
              </a:rPr>
              <a:t>Myth vs reality</a:t>
            </a:r>
          </a:p>
        </p:txBody>
      </p:sp>
      <p:sp>
        <p:nvSpPr>
          <p:cNvPr id="10" name="left"/>
          <p:cNvSpPr/>
          <p:nvPr/>
        </p:nvSpPr>
        <p:spPr>
          <a:xfrm>
            <a:off x="822960" y="1965960"/>
            <a:ext cx="4846320" cy="4114800"/>
          </a:xfrm>
          <a:prstGeom prst="roundRect">
            <a:avLst>
              <a:gd name="adj" fmla="val 5555"/>
            </a:avLst>
          </a:prstGeom>
          <a:solidFill>
            <a:srgbClr val="26140F"/>
          </a:solidFill>
          <a:ln>
            <a:noFill/>
          </a:ln>
        </p:spPr>
        <p:txBody>
          <a:bodyPr rtlCol="0" anchor="t" wrap="square" lIns="365760" rIns="365760" tIns="365760" bIns="36576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400" b="1" spc="300">
                <a:solidFill>
                  <a:srgbClr val="FF6A3D"/>
                </a:solidFill>
                <a:latin typeface="Unbounded"/>
              </a:rPr>
              <a:t>MYTH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FF1E8"/>
                </a:solidFill>
                <a:latin typeface="Unbounded"/>
              </a:rPr>
              <a:t>—  They suck in everything nearby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FF1E8"/>
                </a:solidFill>
                <a:latin typeface="Unbounded"/>
              </a:rPr>
              <a:t>—  They are holes in space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FF1E8"/>
                </a:solidFill>
                <a:latin typeface="Unbounded"/>
              </a:rPr>
              <a:t>—  We can never see them</a:t>
            </a:r>
          </a:p>
        </p:txBody>
      </p:sp>
      <p:sp>
        <p:nvSpPr>
          <p:cNvPr id="11" name="right"/>
          <p:cNvSpPr/>
          <p:nvPr/>
        </p:nvSpPr>
        <p:spPr>
          <a:xfrm>
            <a:off x="6537960" y="1965960"/>
            <a:ext cx="4846320" cy="4114800"/>
          </a:xfrm>
          <a:prstGeom prst="roundRect">
            <a:avLst>
              <a:gd name="adj" fmla="val 5555"/>
            </a:avLst>
          </a:prstGeom>
          <a:solidFill>
            <a:srgbClr val="26140F"/>
          </a:solidFill>
          <a:ln>
            <a:noFill/>
          </a:ln>
        </p:spPr>
        <p:txBody>
          <a:bodyPr rtlCol="0" anchor="t" wrap="square" lIns="365760" rIns="365760" tIns="365760" bIns="36576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400" b="1" spc="300">
                <a:solidFill>
                  <a:srgbClr val="FFB547"/>
                </a:solidFill>
                <a:latin typeface="Unbounded"/>
              </a:rPr>
              <a:t>REALITY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FF1E8"/>
                </a:solidFill>
                <a:latin typeface="Unbounded"/>
              </a:rPr>
              <a:t>—  From far away they pull like any other mass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FF1E8"/>
                </a:solidFill>
                <a:latin typeface="Unbounded"/>
              </a:rPr>
              <a:t>—  They are extremely dense objects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FFF1E8"/>
                </a:solidFill>
                <a:latin typeface="Unbounded"/>
              </a:rPr>
              <a:t>—  We image their glowing disks and shadows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18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20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5880000">
            <a:off x="-1911096" y="4032504"/>
            <a:ext cx="4279392" cy="4279392"/>
          </a:xfrm>
          <a:prstGeom prst="roundRect">
            <a:avLst>
              <a:gd name="adj" fmla="val 6000"/>
            </a:avLst>
          </a:prstGeom>
          <a:solidFill>
            <a:srgbClr val="FF6A3D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15600000">
            <a:off x="8001000" y="-685800"/>
            <a:ext cx="5486400" cy="5486400"/>
          </a:xfrm>
          <a:prstGeom prst="triangle">
            <a:avLst/>
          </a:prstGeom>
          <a:solidFill>
            <a:srgbClr val="FFB54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26140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2000000">
            <a:off x="7258050" y="1680210"/>
            <a:ext cx="3497580" cy="3497580"/>
          </a:xfrm>
          <a:prstGeom prst="diamond">
            <a:avLst/>
          </a:prstGeom>
          <a:noFill/>
          <a:ln w="25400">
            <a:solidFill>
              <a:srgbClr val="FFB547">
                <a:alpha val="7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 rot="14700000">
            <a:off x="6675120" y="5440680"/>
            <a:ext cx="365760" cy="36576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822960" y="3017520"/>
            <a:ext cx="914400" cy="82296"/>
          </a:xfrm>
          <a:prstGeom prst="rect">
            <a:avLst/>
          </a:prstGeom>
          <a:solidFill>
            <a:srgbClr val="FF6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0972526" cy="64008"/>
          </a:xfrm>
          <a:prstGeom prst="rect">
            <a:avLst/>
          </a:prstGeom>
          <a:solidFill>
            <a:srgbClr val="FFB547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 txBox="1"/>
          <p:nvPr/>
        </p:nvSpPr>
        <p:spPr>
          <a:xfrm>
            <a:off x="822960" y="1005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400">
                <a:solidFill>
                  <a:srgbClr val="FF6A3D"/>
                </a:solidFill>
                <a:latin typeface="Unbounded"/>
              </a:rPr>
              <a:t>OPEN QUESTION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822960" y="1371600"/>
            <a:ext cx="5120640" cy="15544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500" b="1">
                <a:solidFill>
                  <a:srgbClr val="FFF1E8"/>
                </a:solidFill>
                <a:latin typeface="Unbounded"/>
              </a:rPr>
              <a:t>The information paradox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822960" y="3337560"/>
            <a:ext cx="5120640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C9A89A"/>
                </a:solidFill>
                <a:latin typeface="Unbounded"/>
              </a:rPr>
              <a:t>Hawking showed black holes slowly evaporate. If they vanish, what happens to the information about everything that fell in? Physicists are still arguing.</a:t>
            </a:r>
          </a:p>
        </p:txBody>
      </p:sp>
      <p:sp>
        <p:nvSpPr>
          <p:cNvPr id="12" name="aside"/>
          <p:cNvSpPr txBox="1"/>
          <p:nvPr/>
        </p:nvSpPr>
        <p:spPr>
          <a:xfrm>
            <a:off x="7315200" y="2194560"/>
            <a:ext cx="3291840" cy="2468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3400" b="1">
                <a:solidFill>
                  <a:srgbClr val="FFF1E8"/>
                </a:solidFill>
                <a:latin typeface="Unbounded"/>
              </a:rPr>
              <a:t>Where does it go?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22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24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a"/>
          <p:cNvSpPr/>
          <p:nvPr/>
        </p:nvSpPr>
        <p:spPr>
          <a:xfrm rot="7560000">
            <a:off x="3136392" y="-64008"/>
            <a:ext cx="5925312" cy="5925312"/>
          </a:xfrm>
          <a:prstGeom prst="roundRect">
            <a:avLst>
              <a:gd name="adj" fmla="val 6000"/>
            </a:avLst>
          </a:prstGeom>
          <a:solidFill>
            <a:srgbClr val="FF6A3D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glow_b"/>
          <p:cNvSpPr/>
          <p:nvPr/>
        </p:nvSpPr>
        <p:spPr>
          <a:xfrm rot="13500000">
            <a:off x="-1828800" y="4572000"/>
            <a:ext cx="3657600" cy="3657600"/>
          </a:xfrm>
          <a:prstGeom prst="triangle">
            <a:avLst/>
          </a:prstGeom>
          <a:solidFill>
            <a:srgbClr val="FFB54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A3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ring"/>
          <p:cNvSpPr/>
          <p:nvPr/>
        </p:nvSpPr>
        <p:spPr>
          <a:xfrm rot="16200000">
            <a:off x="2990088" y="-210312"/>
            <a:ext cx="6217920" cy="6217920"/>
          </a:xfrm>
          <a:prstGeom prst="diamond">
            <a:avLst/>
          </a:prstGeom>
          <a:noFill/>
          <a:ln w="25400">
            <a:solidFill>
              <a:srgbClr val="FFB547">
                <a:alpha val="7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disc"/>
          <p:cNvSpPr/>
          <p:nvPr/>
        </p:nvSpPr>
        <p:spPr>
          <a:xfrm rot="18900000">
            <a:off x="10378440" y="5440680"/>
            <a:ext cx="365760" cy="36576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bar"/>
          <p:cNvSpPr/>
          <p:nvPr/>
        </p:nvSpPr>
        <p:spPr>
          <a:xfrm>
            <a:off x="5641848" y="3657600"/>
            <a:ext cx="914400" cy="82296"/>
          </a:xfrm>
          <a:prstGeom prst="rect">
            <a:avLst/>
          </a:prstGeom>
          <a:solidFill>
            <a:srgbClr val="FF6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progress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B547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 txBox="1"/>
          <p:nvPr/>
        </p:nvSpPr>
        <p:spPr>
          <a:xfrm>
            <a:off x="2898648" y="1234440"/>
            <a:ext cx="6400800" cy="224028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4900" b="1">
                <a:solidFill>
                  <a:srgbClr val="FFF1E8"/>
                </a:solidFill>
                <a:latin typeface="Unbounded"/>
              </a:rPr>
              <a:t>The universe is stranger than we think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3127248" y="393192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C9A89A"/>
                </a:solidFill>
                <a:latin typeface="Unbounded"/>
              </a:rPr>
              <a:t>Thank you. Questions?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repeatCount="indefinite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 -0.025 E" pathEditMode="relative" ptsTypes="">
                                      <p:cBhvr>
                                        <p:cTn id="14" dur="2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accel="50000" decel="50000" repeatCount="indefinite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0000">
                                      <p:cBhvr>
                                        <p:cTn id="1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Holes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