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280000">
            <a:off x="2756985" y="634552"/>
            <a:ext cx="9436844" cy="3302895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280000">
            <a:off x="-2935297" y="4776799"/>
            <a:ext cx="6144922" cy="2150723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09731" cy="6858000"/>
          </a:xfrm>
          <a:prstGeom prst="rect">
            <a:avLst/>
          </a:prstGeom>
          <a:solidFill>
            <a:srgbClr val="0FA3B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5760864" y="1257254"/>
            <a:ext cx="3703413" cy="3703413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7708585" y="5280655"/>
            <a:ext cx="905279" cy="411490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17235" y="4617720"/>
            <a:ext cx="1028726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144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617235" y="1417320"/>
            <a:ext cx="548653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0FA3B1"/>
                </a:solidFill>
                <a:latin typeface="Unbounded"/>
              </a:rPr>
              <a:t>A JOURNEY TO THE EDGE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17235" y="1783080"/>
            <a:ext cx="5692282" cy="2697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6600" b="1">
                <a:solidFill>
                  <a:srgbClr val="0B2A33"/>
                </a:solidFill>
                <a:latin typeface="Unbounded"/>
              </a:rPr>
              <a:t>Black Holes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17235" y="4937760"/>
            <a:ext cx="521221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57680"/>
                </a:solidFill>
                <a:latin typeface="Unbounded"/>
              </a:rPr>
              <a:t>Where gravity wins, light gives up, and physics gets weird.</a:t>
            </a:r>
          </a:p>
        </p:txBody>
      </p:sp>
      <p:sp>
        <p:nvSpPr>
          <p:cNvPr id="12" name="byline"/>
          <p:cNvSpPr txBox="1"/>
          <p:nvPr/>
        </p:nvSpPr>
        <p:spPr>
          <a:xfrm>
            <a:off x="617235" y="6172200"/>
            <a:ext cx="521221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7680"/>
                </a:solidFill>
                <a:latin typeface="Unbounded"/>
              </a:rPr>
              <a:t>Astronomy 101 · Guest lecture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2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6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6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215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75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75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20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22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940000">
            <a:off x="-4046321" y="-539539"/>
            <a:ext cx="9875767" cy="3456518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940000">
            <a:off x="5075047" y="4699987"/>
            <a:ext cx="6583845" cy="2304346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91562" y="1051560"/>
            <a:ext cx="7338243" cy="475488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2100000">
            <a:off x="-1303053" y="4366221"/>
            <a:ext cx="3154759" cy="3154759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8044635" y="874391"/>
            <a:ext cx="678959" cy="308618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1337343" y="1600200"/>
            <a:ext cx="617235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8288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tement"/>
          <p:cNvSpPr txBox="1"/>
          <p:nvPr/>
        </p:nvSpPr>
        <p:spPr>
          <a:xfrm>
            <a:off x="1337343" y="1874520"/>
            <a:ext cx="6583845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B2A33"/>
                </a:solidFill>
                <a:latin typeface="Unbounded"/>
              </a:rPr>
              <a:t>A black hole is not a hole. It is matter squeezed so tight that nothing can escape it.</a:t>
            </a:r>
          </a:p>
        </p:txBody>
      </p:sp>
      <p:sp>
        <p:nvSpPr>
          <p:cNvPr id="10" name="attribution"/>
          <p:cNvSpPr txBox="1"/>
          <p:nvPr/>
        </p:nvSpPr>
        <p:spPr>
          <a:xfrm>
            <a:off x="1337343" y="4983480"/>
            <a:ext cx="644668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A3B1"/>
                </a:solidFill>
                <a:latin typeface="Unbounded"/>
              </a:rPr>
              <a:t>— The short version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2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12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7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1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15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3669122" y="690326"/>
            <a:ext cx="10424421" cy="3648547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5486537" y="4983456"/>
            <a:ext cx="5486537" cy="1920288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09731" cy="6858000"/>
          </a:xfrm>
          <a:prstGeom prst="rect">
            <a:avLst/>
          </a:prstGeom>
          <a:solidFill>
            <a:srgbClr val="0FA3B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4200000">
            <a:off x="617235" y="1714457"/>
            <a:ext cx="3429086" cy="3429086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3497667" y="1291586"/>
            <a:ext cx="754399" cy="342909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4526393" y="3886200"/>
            <a:ext cx="822981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27432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617235" y="1143000"/>
            <a:ext cx="3429086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100" b="1">
                <a:solidFill>
                  <a:srgbClr val="0FA3B1"/>
                </a:solidFill>
                <a:latin typeface="Unbounded"/>
              </a:rPr>
              <a:t>01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4526393" y="1188720"/>
            <a:ext cx="4114903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0B2A33"/>
                </a:solidFill>
                <a:latin typeface="Unbounded"/>
              </a:rPr>
              <a:t>How they are born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4526393" y="4206240"/>
            <a:ext cx="404632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7680"/>
                </a:solidFill>
                <a:latin typeface="Unbounded"/>
              </a:rPr>
              <a:t>Most black holes start as giant stars that run out of fuel.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7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7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6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6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875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19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21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660000">
            <a:off x="-4046321" y="-1993430"/>
            <a:ext cx="8778459" cy="3072461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660000">
            <a:off x="5390523" y="5104153"/>
            <a:ext cx="6364383" cy="2227534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09731" cy="6858000"/>
          </a:xfrm>
          <a:prstGeom prst="rect">
            <a:avLst/>
          </a:prstGeom>
          <a:solidFill>
            <a:srgbClr val="0FA3B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6300000">
            <a:off x="7681152" y="-891569"/>
            <a:ext cx="2331778" cy="2331778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301760" y="3810759"/>
            <a:ext cx="452639" cy="205745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17235" y="3877056"/>
            <a:ext cx="7955479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36576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617235" y="502920"/>
            <a:ext cx="7886897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0B2A33"/>
                </a:solidFill>
                <a:latin typeface="Unbounded"/>
              </a:rPr>
              <a:t>The death of a giant star</a:t>
            </a:r>
          </a:p>
        </p:txBody>
      </p:sp>
      <p:sp>
        <p:nvSpPr>
          <p:cNvPr id="10" name="node0"/>
          <p:cNvSpPr/>
          <p:nvPr/>
        </p:nvSpPr>
        <p:spPr>
          <a:xfrm>
            <a:off x="685817" y="3797043"/>
            <a:ext cx="205745" cy="205745"/>
          </a:xfrm>
          <a:prstGeom prst="ellipse">
            <a:avLst/>
          </a:prstGeom>
          <a:solidFill>
            <a:srgbClr val="E9F5F5"/>
          </a:solidFill>
          <a:ln w="28575">
            <a:solidFill>
              <a:srgbClr val="0FA3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abel0"/>
          <p:cNvSpPr txBox="1"/>
          <p:nvPr/>
        </p:nvSpPr>
        <p:spPr>
          <a:xfrm>
            <a:off x="685817" y="2606040"/>
            <a:ext cx="1783125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A3B1"/>
                </a:solidFill>
                <a:latin typeface="Unbounded"/>
              </a:rPr>
              <a:t>Fuel</a:t>
            </a:r>
          </a:p>
        </p:txBody>
      </p:sp>
      <p:sp>
        <p:nvSpPr>
          <p:cNvPr id="12" name="step0"/>
          <p:cNvSpPr txBox="1"/>
          <p:nvPr/>
        </p:nvSpPr>
        <p:spPr>
          <a:xfrm>
            <a:off x="685817" y="4343400"/>
            <a:ext cx="1783125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2A33"/>
                </a:solidFill>
                <a:latin typeface="Unbounded"/>
              </a:rPr>
              <a:t>A star 20x the Sun burns hydrogen for millions of years.</a:t>
            </a:r>
          </a:p>
        </p:txBody>
      </p:sp>
      <p:sp>
        <p:nvSpPr>
          <p:cNvPr id="13" name="node1"/>
          <p:cNvSpPr/>
          <p:nvPr/>
        </p:nvSpPr>
        <p:spPr>
          <a:xfrm>
            <a:off x="2674687" y="3797043"/>
            <a:ext cx="205745" cy="205745"/>
          </a:xfrm>
          <a:prstGeom prst="ellipse">
            <a:avLst/>
          </a:prstGeom>
          <a:solidFill>
            <a:srgbClr val="E9F5F5"/>
          </a:solidFill>
          <a:ln w="28575">
            <a:solidFill>
              <a:srgbClr val="0FA3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abel1"/>
          <p:cNvSpPr txBox="1"/>
          <p:nvPr/>
        </p:nvSpPr>
        <p:spPr>
          <a:xfrm>
            <a:off x="2674687" y="2606040"/>
            <a:ext cx="1783125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8A5B"/>
                </a:solidFill>
                <a:latin typeface="Unbounded"/>
              </a:rPr>
              <a:t>Collapse</a:t>
            </a:r>
          </a:p>
        </p:txBody>
      </p:sp>
      <p:sp>
        <p:nvSpPr>
          <p:cNvPr id="15" name="step1"/>
          <p:cNvSpPr txBox="1"/>
          <p:nvPr/>
        </p:nvSpPr>
        <p:spPr>
          <a:xfrm>
            <a:off x="2674687" y="4343400"/>
            <a:ext cx="1783125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2A33"/>
                </a:solidFill>
                <a:latin typeface="Unbounded"/>
              </a:rPr>
              <a:t>Fuel runs out. Gravity crushes the core in under a second.</a:t>
            </a:r>
          </a:p>
        </p:txBody>
      </p:sp>
      <p:sp>
        <p:nvSpPr>
          <p:cNvPr id="16" name="node2"/>
          <p:cNvSpPr/>
          <p:nvPr/>
        </p:nvSpPr>
        <p:spPr>
          <a:xfrm>
            <a:off x="4663557" y="3797043"/>
            <a:ext cx="205745" cy="205745"/>
          </a:xfrm>
          <a:prstGeom prst="ellipse">
            <a:avLst/>
          </a:prstGeom>
          <a:solidFill>
            <a:srgbClr val="E9F5F5"/>
          </a:solidFill>
          <a:ln w="28575">
            <a:solidFill>
              <a:srgbClr val="0FA3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abel2"/>
          <p:cNvSpPr txBox="1"/>
          <p:nvPr/>
        </p:nvSpPr>
        <p:spPr>
          <a:xfrm>
            <a:off x="4663557" y="2606040"/>
            <a:ext cx="1783125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A3B1"/>
                </a:solidFill>
                <a:latin typeface="Unbounded"/>
              </a:rPr>
              <a:t>Supernova</a:t>
            </a:r>
          </a:p>
        </p:txBody>
      </p:sp>
      <p:sp>
        <p:nvSpPr>
          <p:cNvPr id="18" name="step2"/>
          <p:cNvSpPr txBox="1"/>
          <p:nvPr/>
        </p:nvSpPr>
        <p:spPr>
          <a:xfrm>
            <a:off x="4663557" y="4343400"/>
            <a:ext cx="1783125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2A33"/>
                </a:solidFill>
                <a:latin typeface="Unbounded"/>
              </a:rPr>
              <a:t>The outer layers blast away in a blinding explosion.</a:t>
            </a:r>
          </a:p>
        </p:txBody>
      </p:sp>
      <p:sp>
        <p:nvSpPr>
          <p:cNvPr id="19" name="node3"/>
          <p:cNvSpPr/>
          <p:nvPr/>
        </p:nvSpPr>
        <p:spPr>
          <a:xfrm>
            <a:off x="6652426" y="3797043"/>
            <a:ext cx="205745" cy="205745"/>
          </a:xfrm>
          <a:prstGeom prst="ellipse">
            <a:avLst/>
          </a:prstGeom>
          <a:solidFill>
            <a:srgbClr val="E9F5F5"/>
          </a:solidFill>
          <a:ln w="28575">
            <a:solidFill>
              <a:srgbClr val="0FA3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label3"/>
          <p:cNvSpPr txBox="1"/>
          <p:nvPr/>
        </p:nvSpPr>
        <p:spPr>
          <a:xfrm>
            <a:off x="6652426" y="2606040"/>
            <a:ext cx="1783125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8A5B"/>
                </a:solidFill>
                <a:latin typeface="Unbounded"/>
              </a:rPr>
              <a:t>Singularity</a:t>
            </a:r>
          </a:p>
        </p:txBody>
      </p:sp>
      <p:sp>
        <p:nvSpPr>
          <p:cNvPr id="21" name="step3"/>
          <p:cNvSpPr txBox="1"/>
          <p:nvPr/>
        </p:nvSpPr>
        <p:spPr>
          <a:xfrm>
            <a:off x="6652426" y="4343400"/>
            <a:ext cx="1783125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2A33"/>
                </a:solidFill>
                <a:latin typeface="Unbounded"/>
              </a:rPr>
              <a:t>The core keeps shrinking into a point of infinite density.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7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37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12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18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2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701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63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038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7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2214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37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551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7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5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6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280000">
            <a:off x="3017595" y="1572730"/>
            <a:ext cx="8778459" cy="3072461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280000">
            <a:off x="-3189050" y="5298922"/>
            <a:ext cx="6035191" cy="2112317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09731" cy="6858000"/>
          </a:xfrm>
          <a:prstGeom prst="rect">
            <a:avLst/>
          </a:prstGeom>
          <a:solidFill>
            <a:srgbClr val="0FA3B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8400000">
            <a:off x="5417955" y="1508712"/>
            <a:ext cx="3840576" cy="3840576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8092642" y="788666"/>
            <a:ext cx="754399" cy="342909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17235" y="4617720"/>
            <a:ext cx="822981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45720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value"/>
          <p:cNvSpPr txBox="1"/>
          <p:nvPr/>
        </p:nvSpPr>
        <p:spPr>
          <a:xfrm>
            <a:off x="617235" y="914400"/>
            <a:ext cx="4937883" cy="35661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>
              <a:lnSpc>
                <a:spcPct val="90000"/>
              </a:lnSpc>
            </a:pPr>
            <a:r>
              <a:rPr sz="11100" b="1">
                <a:solidFill>
                  <a:srgbClr val="0B2A33"/>
                </a:solidFill>
                <a:latin typeface="Unbounded"/>
              </a:rPr>
              <a:t>6.5</a:t>
            </a:r>
            <a:r>
              <a:rPr sz="7700" b="1">
                <a:solidFill>
                  <a:srgbClr val="0FA3B1"/>
                </a:solidFill>
                <a:latin typeface="Unbounded"/>
              </a:rPr>
              <a:t>B</a:t>
            </a:r>
          </a:p>
        </p:txBody>
      </p:sp>
      <p:sp>
        <p:nvSpPr>
          <p:cNvPr id="10" name="label"/>
          <p:cNvSpPr txBox="1"/>
          <p:nvPr/>
        </p:nvSpPr>
        <p:spPr>
          <a:xfrm>
            <a:off x="617235" y="4846320"/>
            <a:ext cx="4663557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0B2A33"/>
                </a:solidFill>
                <a:latin typeface="Unbounded"/>
              </a:rPr>
              <a:t>Solar masses in M87*</a:t>
            </a:r>
          </a:p>
        </p:txBody>
      </p:sp>
      <p:sp>
        <p:nvSpPr>
          <p:cNvPr id="11" name="note"/>
          <p:cNvSpPr txBox="1"/>
          <p:nvPr/>
        </p:nvSpPr>
        <p:spPr>
          <a:xfrm>
            <a:off x="617235" y="5532120"/>
            <a:ext cx="466355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7680"/>
                </a:solidFill>
                <a:latin typeface="Unbounded"/>
              </a:rPr>
              <a:t>The first black hole ever photographed, by the Event Horizon Telescope in 2019.</a:t>
            </a:r>
          </a:p>
        </p:txBody>
      </p:sp>
      <p:sp>
        <p:nvSpPr>
          <p:cNvPr id="12" name="context"/>
          <p:cNvSpPr txBox="1"/>
          <p:nvPr/>
        </p:nvSpPr>
        <p:spPr>
          <a:xfrm>
            <a:off x="6103773" y="2514600"/>
            <a:ext cx="2468942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B2A33"/>
                </a:solidFill>
                <a:latin typeface="Unbounded"/>
              </a:rPr>
              <a:t>55 million light-years away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2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23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940000">
            <a:off x="4286357" y="-1668816"/>
            <a:ext cx="8229806" cy="2880432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940000">
            <a:off x="-2846141" y="5481802"/>
            <a:ext cx="6035191" cy="2112317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0500000">
            <a:off x="7475407" y="-1074449"/>
            <a:ext cx="2331778" cy="2331778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8236664" y="548637"/>
            <a:ext cx="603519" cy="274327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17235" y="1691640"/>
            <a:ext cx="685817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54864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617235" y="502920"/>
            <a:ext cx="7886897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0B2A33"/>
                </a:solidFill>
                <a:latin typeface="Unbounded"/>
              </a:rPr>
              <a:t>Three kinds of black hole</a:t>
            </a:r>
          </a:p>
        </p:txBody>
      </p:sp>
      <p:sp>
        <p:nvSpPr>
          <p:cNvPr id="10" name="card0"/>
          <p:cNvSpPr/>
          <p:nvPr/>
        </p:nvSpPr>
        <p:spPr>
          <a:xfrm>
            <a:off x="617235" y="2148840"/>
            <a:ext cx="2499346" cy="3794760"/>
          </a:xfrm>
          <a:prstGeom prst="roundRect">
            <a:avLst>
              <a:gd name="adj" fmla="val 6859"/>
            </a:avLst>
          </a:prstGeom>
          <a:solidFill>
            <a:srgbClr val="FFFFFF"/>
          </a:solidFill>
          <a:ln w="9525">
            <a:solidFill>
              <a:srgbClr val="0FA3B1">
                <a:alpha val="35000"/>
              </a:srgbClr>
            </a:solidFill>
          </a:ln>
        </p:spPr>
        <p:txBody>
          <a:bodyPr rtlCol="0" anchor="t" wrap="square" lIns="219461" rIns="219461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0FA3B1"/>
                </a:solidFill>
                <a:latin typeface="Unbounded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0B2A33"/>
                </a:solidFill>
                <a:latin typeface="Unbounded"/>
              </a:rPr>
              <a:t>Stellar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7680"/>
                </a:solidFill>
                <a:latin typeface="Unbounded"/>
              </a:rPr>
              <a:t>5 to 100 Suns. Left behind by collapsing massive stars.</a:t>
            </a:r>
          </a:p>
        </p:txBody>
      </p:sp>
      <p:sp>
        <p:nvSpPr>
          <p:cNvPr id="11" name="card1"/>
          <p:cNvSpPr/>
          <p:nvPr/>
        </p:nvSpPr>
        <p:spPr>
          <a:xfrm>
            <a:off x="3322327" y="2148840"/>
            <a:ext cx="2499346" cy="3794760"/>
          </a:xfrm>
          <a:prstGeom prst="roundRect">
            <a:avLst>
              <a:gd name="adj" fmla="val 6859"/>
            </a:avLst>
          </a:prstGeom>
          <a:solidFill>
            <a:srgbClr val="FFFFFF"/>
          </a:solidFill>
          <a:ln w="9525">
            <a:solidFill>
              <a:srgbClr val="0FA3B1">
                <a:alpha val="35000"/>
              </a:srgbClr>
            </a:solidFill>
          </a:ln>
        </p:spPr>
        <p:txBody>
          <a:bodyPr rtlCol="0" anchor="t" wrap="square" lIns="219461" rIns="219461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0FA3B1"/>
                </a:solidFill>
                <a:latin typeface="Unbounded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0B2A33"/>
                </a:solidFill>
                <a:latin typeface="Unbounded"/>
              </a:rPr>
              <a:t>Intermediate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7680"/>
                </a:solidFill>
                <a:latin typeface="Unbounded"/>
              </a:rPr>
              <a:t>Hundreds to thousands of Suns. Rare, and hard to find.</a:t>
            </a:r>
          </a:p>
        </p:txBody>
      </p:sp>
      <p:sp>
        <p:nvSpPr>
          <p:cNvPr id="12" name="card2"/>
          <p:cNvSpPr/>
          <p:nvPr/>
        </p:nvSpPr>
        <p:spPr>
          <a:xfrm>
            <a:off x="6027418" y="2148840"/>
            <a:ext cx="2499346" cy="3794760"/>
          </a:xfrm>
          <a:prstGeom prst="roundRect">
            <a:avLst>
              <a:gd name="adj" fmla="val 6859"/>
            </a:avLst>
          </a:prstGeom>
          <a:solidFill>
            <a:srgbClr val="FFFFFF"/>
          </a:solidFill>
          <a:ln w="9525">
            <a:solidFill>
              <a:srgbClr val="0FA3B1">
                <a:alpha val="35000"/>
              </a:srgbClr>
            </a:solidFill>
          </a:ln>
        </p:spPr>
        <p:txBody>
          <a:bodyPr rtlCol="0" anchor="t" wrap="square" lIns="219461" rIns="219461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0FA3B1"/>
                </a:solidFill>
                <a:latin typeface="Unbounded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0B2A33"/>
                </a:solidFill>
                <a:latin typeface="Unbounded"/>
              </a:rPr>
              <a:t>Supermassive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7680"/>
                </a:solidFill>
                <a:latin typeface="Unbounded"/>
              </a:rPr>
              <a:t>Millions to billions of Suns. One sits at the centre of most galaxies.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7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87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1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75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7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3566249" y="2670010"/>
            <a:ext cx="8778459" cy="3072461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3189050" y="-1284758"/>
            <a:ext cx="6035191" cy="2112317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103773" y="0"/>
            <a:ext cx="3040227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600000">
            <a:off x="6240936" y="1851621"/>
            <a:ext cx="3154759" cy="3154759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5946035" y="1160140"/>
            <a:ext cx="829839" cy="377199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17235" y="1828800"/>
            <a:ext cx="685817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64008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617235" y="640080"/>
            <a:ext cx="5212210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0B2A33"/>
                </a:solidFill>
                <a:latin typeface="Unbounded"/>
              </a:rPr>
              <a:t>What happens if you fall in</a:t>
            </a:r>
          </a:p>
        </p:txBody>
      </p:sp>
      <p:sp>
        <p:nvSpPr>
          <p:cNvPr id="10" name="dot0"/>
          <p:cNvSpPr/>
          <p:nvPr/>
        </p:nvSpPr>
        <p:spPr>
          <a:xfrm>
            <a:off x="630952" y="2362961"/>
            <a:ext cx="96014" cy="96014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oint0"/>
          <p:cNvSpPr txBox="1"/>
          <p:nvPr/>
        </p:nvSpPr>
        <p:spPr>
          <a:xfrm>
            <a:off x="925853" y="2240280"/>
            <a:ext cx="473213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B2A33"/>
                </a:solidFill>
                <a:latin typeface="Unbounded"/>
              </a:rPr>
              <a:t>Time slows down for you, as seen from far away.</a:t>
            </a:r>
          </a:p>
        </p:txBody>
      </p:sp>
      <p:sp>
        <p:nvSpPr>
          <p:cNvPr id="12" name="dot1"/>
          <p:cNvSpPr/>
          <p:nvPr/>
        </p:nvSpPr>
        <p:spPr>
          <a:xfrm>
            <a:off x="630952" y="3368801"/>
            <a:ext cx="96014" cy="96014"/>
          </a:xfrm>
          <a:prstGeom prst="ellipse">
            <a:avLst/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oint1"/>
          <p:cNvSpPr txBox="1"/>
          <p:nvPr/>
        </p:nvSpPr>
        <p:spPr>
          <a:xfrm>
            <a:off x="925853" y="3246120"/>
            <a:ext cx="473213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B2A33"/>
                </a:solidFill>
                <a:latin typeface="Unbounded"/>
              </a:rPr>
              <a:t>Tidal forces stretch you thin: spaghettification.</a:t>
            </a:r>
          </a:p>
        </p:txBody>
      </p:sp>
      <p:sp>
        <p:nvSpPr>
          <p:cNvPr id="14" name="dot2"/>
          <p:cNvSpPr/>
          <p:nvPr/>
        </p:nvSpPr>
        <p:spPr>
          <a:xfrm>
            <a:off x="630952" y="4374641"/>
            <a:ext cx="96014" cy="96014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oint2"/>
          <p:cNvSpPr txBox="1"/>
          <p:nvPr/>
        </p:nvSpPr>
        <p:spPr>
          <a:xfrm>
            <a:off x="925853" y="4251960"/>
            <a:ext cx="473213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B2A33"/>
                </a:solidFill>
                <a:latin typeface="Unbounded"/>
              </a:rPr>
              <a:t>Past the event horizon, every path leads inward.</a:t>
            </a:r>
          </a:p>
        </p:txBody>
      </p:sp>
      <p:sp>
        <p:nvSpPr>
          <p:cNvPr id="16" name="dot3"/>
          <p:cNvSpPr/>
          <p:nvPr/>
        </p:nvSpPr>
        <p:spPr>
          <a:xfrm>
            <a:off x="630952" y="5380481"/>
            <a:ext cx="96014" cy="96014"/>
          </a:xfrm>
          <a:prstGeom prst="ellipse">
            <a:avLst/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oint3"/>
          <p:cNvSpPr txBox="1"/>
          <p:nvPr/>
        </p:nvSpPr>
        <p:spPr>
          <a:xfrm>
            <a:off x="925853" y="5257800"/>
            <a:ext cx="473213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B2A33"/>
                </a:solidFill>
                <a:latin typeface="Unbounded"/>
              </a:rPr>
              <a:t>No signal you send can ever get back out.</a:t>
            </a:r>
          </a:p>
        </p:txBody>
      </p:sp>
      <p:sp>
        <p:nvSpPr>
          <p:cNvPr id="18" name="aside"/>
          <p:cNvSpPr txBox="1"/>
          <p:nvPr/>
        </p:nvSpPr>
        <p:spPr>
          <a:xfrm>
            <a:off x="6515263" y="2377440"/>
            <a:ext cx="2331778" cy="2194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000" b="1">
                <a:solidFill>
                  <a:srgbClr val="0B2A33"/>
                </a:solidFill>
                <a:latin typeface="Unbounded"/>
              </a:rPr>
              <a:t>No way 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7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742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972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269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33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566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63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7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875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875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5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53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660000">
            <a:off x="1234471" y="-2523773"/>
            <a:ext cx="6583845" cy="2304346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660000">
            <a:off x="1234471" y="6163027"/>
            <a:ext cx="6583845" cy="2304346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4550397" y="1874520"/>
            <a:ext cx="41149" cy="4297680"/>
          </a:xfrm>
          <a:prstGeom prst="rect">
            <a:avLst/>
          </a:prstGeom>
          <a:solidFill>
            <a:srgbClr val="0FA3B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4700000">
            <a:off x="4094328" y="3241536"/>
            <a:ext cx="960144" cy="960144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272641" y="3584445"/>
            <a:ext cx="603519" cy="274327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17235" y="1691640"/>
            <a:ext cx="685817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73152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617235" y="502920"/>
            <a:ext cx="7886897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0B2A33"/>
                </a:solidFill>
                <a:latin typeface="Unbounded"/>
              </a:rPr>
              <a:t>Myth vs reality</a:t>
            </a:r>
          </a:p>
        </p:txBody>
      </p:sp>
      <p:sp>
        <p:nvSpPr>
          <p:cNvPr id="10" name="left"/>
          <p:cNvSpPr/>
          <p:nvPr/>
        </p:nvSpPr>
        <p:spPr>
          <a:xfrm>
            <a:off x="617235" y="1965960"/>
            <a:ext cx="3634831" cy="41148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74327" rIns="274327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0FA3B1"/>
                </a:solidFill>
                <a:latin typeface="Unbounded"/>
              </a:rPr>
              <a:t>MYTH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0B2A33"/>
                </a:solidFill>
                <a:latin typeface="Unbounded"/>
              </a:rPr>
              <a:t>—  They suck in everything nearby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0B2A33"/>
                </a:solidFill>
                <a:latin typeface="Unbounded"/>
              </a:rPr>
              <a:t>—  They are holes in space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0B2A33"/>
                </a:solidFill>
                <a:latin typeface="Unbounded"/>
              </a:rPr>
              <a:t>—  We can never see them</a:t>
            </a:r>
          </a:p>
        </p:txBody>
      </p:sp>
      <p:sp>
        <p:nvSpPr>
          <p:cNvPr id="11" name="right"/>
          <p:cNvSpPr/>
          <p:nvPr/>
        </p:nvSpPr>
        <p:spPr>
          <a:xfrm>
            <a:off x="4903593" y="1965960"/>
            <a:ext cx="3634831" cy="41148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74327" rIns="274327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FF8A5B"/>
                </a:solidFill>
                <a:latin typeface="Unbounded"/>
              </a:rPr>
              <a:t>REALITY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0B2A33"/>
                </a:solidFill>
                <a:latin typeface="Unbounded"/>
              </a:rPr>
              <a:t>—  From far away they pull like any other mass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0B2A33"/>
                </a:solidFill>
                <a:latin typeface="Unbounded"/>
              </a:rPr>
              <a:t>—  They are extremely dense objects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0B2A33"/>
                </a:solidFill>
                <a:latin typeface="Unbounded"/>
              </a:rPr>
              <a:t>—  We image their glowing disks and shadows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7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87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75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1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2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280000">
            <a:off x="-3394795" y="4924013"/>
            <a:ext cx="7132498" cy="2496374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280000">
            <a:off x="3943449" y="617184"/>
            <a:ext cx="8229806" cy="2880432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4800720" y="0"/>
            <a:ext cx="4343280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800000">
            <a:off x="5212210" y="1885911"/>
            <a:ext cx="3086177" cy="3086177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766429" y="5452106"/>
            <a:ext cx="754399" cy="342909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17235" y="3017520"/>
            <a:ext cx="685817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82296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617235" y="1005840"/>
            <a:ext cx="384057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0FA3B1"/>
                </a:solidFill>
                <a:latin typeface="Unbounded"/>
              </a:rPr>
              <a:t>OPEN QUESTION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17235" y="1371600"/>
            <a:ext cx="3840576" cy="1554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500" b="1">
                <a:solidFill>
                  <a:srgbClr val="0B2A33"/>
                </a:solidFill>
                <a:latin typeface="Unbounded"/>
              </a:rPr>
              <a:t>The information paradox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617235" y="3337560"/>
            <a:ext cx="3840576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7680"/>
                </a:solidFill>
                <a:latin typeface="Unbounded"/>
              </a:rPr>
              <a:t>Hawking showed black holes slowly evaporate. If they vanish, what happens to the information about everything that fell in? Physicists are still arguing.</a:t>
            </a:r>
          </a:p>
        </p:txBody>
      </p:sp>
      <p:sp>
        <p:nvSpPr>
          <p:cNvPr id="12" name="aside"/>
          <p:cNvSpPr txBox="1"/>
          <p:nvPr/>
        </p:nvSpPr>
        <p:spPr>
          <a:xfrm>
            <a:off x="5486537" y="2194560"/>
            <a:ext cx="2468942" cy="2468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400" b="1">
                <a:solidFill>
                  <a:srgbClr val="0B2A33"/>
                </a:solidFill>
                <a:latin typeface="Unbounded"/>
              </a:rPr>
              <a:t>Where does it go?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7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75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21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87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7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940000">
            <a:off x="-363483" y="1170389"/>
            <a:ext cx="9875767" cy="3456518"/>
          </a:xfrm>
          <a:prstGeom prst="ellipse">
            <a:avLst/>
          </a:prstGeom>
          <a:gradFill rotWithShape="1">
            <a:gsLst>
              <a:gs pos="0">
                <a:srgbClr val="0FA3B1">
                  <a:alpha val="35000"/>
                </a:srgbClr>
              </a:gs>
              <a:gs pos="45000">
                <a:srgbClr val="0FA3B1">
                  <a:alpha val="15750"/>
                </a:srgbClr>
              </a:gs>
              <a:gs pos="100000">
                <a:srgbClr val="0FA3B1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940000">
            <a:off x="-2743269" y="5440656"/>
            <a:ext cx="5486537" cy="1920288"/>
          </a:xfrm>
          <a:prstGeom prst="ellipse">
            <a:avLst/>
          </a:prstGeom>
          <a:gradFill rotWithShape="1">
            <a:gsLst>
              <a:gs pos="0">
                <a:srgbClr val="FF8A5B">
                  <a:alpha val="27999"/>
                </a:srgbClr>
              </a:gs>
              <a:gs pos="45000">
                <a:srgbClr val="FF8A5B">
                  <a:alpha val="12600"/>
                </a:srgbClr>
              </a:gs>
              <a:gs pos="100000">
                <a:srgbClr val="FF8A5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09731" cy="6858000"/>
          </a:xfrm>
          <a:prstGeom prst="rect">
            <a:avLst/>
          </a:prstGeom>
          <a:solidFill>
            <a:srgbClr val="0FA3B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8900000">
            <a:off x="1831132" y="155379"/>
            <a:ext cx="5486537" cy="5486537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FF8A5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7543989" y="5452106"/>
            <a:ext cx="754399" cy="342909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4231492" y="3657600"/>
            <a:ext cx="685817" cy="82296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FF8A5B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2174040" y="1234440"/>
            <a:ext cx="4800720" cy="2240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800" b="1">
                <a:solidFill>
                  <a:srgbClr val="0B2A33"/>
                </a:solidFill>
                <a:latin typeface="Unbounded"/>
              </a:rPr>
              <a:t>The universe is stranger than we think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2345495" y="3931920"/>
            <a:ext cx="4457811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57680"/>
                </a:solidFill>
                <a:latin typeface="Unbounded"/>
              </a:rPr>
              <a:t>Thank you.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19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6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6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21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87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12 E" pathEditMode="relative" ptsTypes="">
                                      <p:cBhvr>
                                        <p:cTn id="1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1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Holes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