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7214616" y="-466344"/>
            <a:ext cx="5504688" cy="5504688"/>
          </a:xfrm>
          <a:prstGeom prst="rect">
            <a:avLst/>
          </a:prstGeom>
          <a:solidFill>
            <a:srgbClr val="E8432E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-1737360" y="3931920"/>
            <a:ext cx="3840480" cy="3840480"/>
          </a:xfrm>
          <a:prstGeom prst="rect">
            <a:avLst/>
          </a:prstGeom>
          <a:solidFill>
            <a:srgbClr val="F2B705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432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>
            <a:off x="7927848" y="886968"/>
            <a:ext cx="4443984" cy="4443984"/>
          </a:xfrm>
          <a:prstGeom prst="rect">
            <a:avLst/>
          </a:prstGeom>
          <a:noFill/>
          <a:ln w="9525">
            <a:solidFill>
              <a:srgbClr val="16140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0607040" y="5212080"/>
            <a:ext cx="548640" cy="548640"/>
          </a:xfrm>
          <a:prstGeom prst="rect">
            <a:avLst/>
          </a:prstGeom>
          <a:solidFill>
            <a:srgbClr val="E843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4617720"/>
            <a:ext cx="1371600" cy="82296"/>
          </a:xfrm>
          <a:prstGeom prst="rect">
            <a:avLst/>
          </a:prstGeom>
          <a:solidFill>
            <a:srgbClr val="E843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1219170" cy="64008"/>
          </a:xfrm>
          <a:prstGeom prst="rect">
            <a:avLst/>
          </a:prstGeom>
          <a:solidFill>
            <a:srgbClr val="F2B70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400">
                <a:solidFill>
                  <a:srgbClr val="E8432E"/>
                </a:solidFill>
                <a:latin typeface="Unbounded"/>
              </a:rPr>
              <a:t>A JOURNEY TO THE EDGE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822960" y="1783080"/>
            <a:ext cx="7589520" cy="26974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6600" b="1">
                <a:solidFill>
                  <a:srgbClr val="16140F"/>
                </a:solidFill>
                <a:latin typeface="Unbounded"/>
              </a:rPr>
              <a:t>Black Holes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822960" y="4937760"/>
            <a:ext cx="69494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665C"/>
                </a:solidFill>
                <a:latin typeface="Unbounded"/>
              </a:rPr>
              <a:t>Where gravity wins, light gives up, and physics gets weird.</a:t>
            </a:r>
          </a:p>
        </p:txBody>
      </p:sp>
      <p:sp>
        <p:nvSpPr>
          <p:cNvPr id="12" name="byline"/>
          <p:cNvSpPr txBox="1"/>
          <p:nvPr/>
        </p:nvSpPr>
        <p:spPr>
          <a:xfrm>
            <a:off x="822960" y="617220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665C"/>
                </a:solidFill>
                <a:latin typeface="Unbounded"/>
              </a:rPr>
              <a:t>Astronomy 101 · Guest lecture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4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20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-1691640" y="-1691640"/>
            <a:ext cx="5760720" cy="5760720"/>
          </a:xfrm>
          <a:prstGeom prst="rect">
            <a:avLst/>
          </a:prstGeom>
          <a:solidFill>
            <a:srgbClr val="E8432E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9098280" y="3794760"/>
            <a:ext cx="4114800" cy="4114800"/>
          </a:xfrm>
          <a:prstGeom prst="rect">
            <a:avLst/>
          </a:prstGeom>
          <a:solidFill>
            <a:srgbClr val="F2B705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1188720" y="1051560"/>
            <a:ext cx="9784080" cy="475488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>
            <a:off x="-1527048" y="4050792"/>
            <a:ext cx="3785616" cy="3785616"/>
          </a:xfrm>
          <a:prstGeom prst="rect">
            <a:avLst/>
          </a:prstGeom>
          <a:noFill/>
          <a:ln w="9525">
            <a:solidFill>
              <a:srgbClr val="16140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0972800" y="822960"/>
            <a:ext cx="411480" cy="411480"/>
          </a:xfrm>
          <a:prstGeom prst="rect">
            <a:avLst/>
          </a:prstGeom>
          <a:solidFill>
            <a:srgbClr val="E843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1783080" y="1600200"/>
            <a:ext cx="822960" cy="82296"/>
          </a:xfrm>
          <a:prstGeom prst="rect">
            <a:avLst/>
          </a:prstGeom>
          <a:solidFill>
            <a:srgbClr val="E843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2438339" cy="64008"/>
          </a:xfrm>
          <a:prstGeom prst="rect">
            <a:avLst/>
          </a:prstGeom>
          <a:solidFill>
            <a:srgbClr val="F2B70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tement"/>
          <p:cNvSpPr txBox="1"/>
          <p:nvPr/>
        </p:nvSpPr>
        <p:spPr>
          <a:xfrm>
            <a:off x="1783080" y="1874520"/>
            <a:ext cx="8778240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6140F"/>
                </a:solidFill>
                <a:latin typeface="Unbounded"/>
              </a:rPr>
              <a:t>A black hole is not a hole. It is matter squeezed so tight that nothing can escape it.</a:t>
            </a:r>
          </a:p>
        </p:txBody>
      </p:sp>
      <p:sp>
        <p:nvSpPr>
          <p:cNvPr id="10" name="attribution"/>
          <p:cNvSpPr txBox="1"/>
          <p:nvPr/>
        </p:nvSpPr>
        <p:spPr>
          <a:xfrm>
            <a:off x="1783080" y="4983480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8432E"/>
                </a:solidFill>
                <a:latin typeface="Unbounded"/>
              </a:rPr>
              <a:t>— The short version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2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9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13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-982980" y="-525780"/>
            <a:ext cx="6080760" cy="6080760"/>
          </a:xfrm>
          <a:prstGeom prst="rect">
            <a:avLst/>
          </a:prstGeom>
          <a:solidFill>
            <a:srgbClr val="E8432E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9258300" y="4229100"/>
            <a:ext cx="3429000" cy="3429000"/>
          </a:xfrm>
          <a:prstGeom prst="rect">
            <a:avLst/>
          </a:prstGeom>
          <a:solidFill>
            <a:srgbClr val="F2B705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432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>
            <a:off x="1051560" y="1371600"/>
            <a:ext cx="4114800" cy="4114800"/>
          </a:xfrm>
          <a:prstGeom prst="rect">
            <a:avLst/>
          </a:prstGeom>
          <a:noFill/>
          <a:ln w="9525">
            <a:solidFill>
              <a:srgbClr val="16140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4937760" y="1234440"/>
            <a:ext cx="457200" cy="457200"/>
          </a:xfrm>
          <a:prstGeom prst="rect">
            <a:avLst/>
          </a:prstGeom>
          <a:solidFill>
            <a:srgbClr val="E843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6035040" y="3886200"/>
            <a:ext cx="1097280" cy="82296"/>
          </a:xfrm>
          <a:prstGeom prst="rect">
            <a:avLst/>
          </a:prstGeom>
          <a:solidFill>
            <a:srgbClr val="E843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3657509" cy="64008"/>
          </a:xfrm>
          <a:prstGeom prst="rect">
            <a:avLst/>
          </a:prstGeom>
          <a:solidFill>
            <a:srgbClr val="F2B70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umber"/>
          <p:cNvSpPr txBox="1"/>
          <p:nvPr/>
        </p:nvSpPr>
        <p:spPr>
          <a:xfrm>
            <a:off x="822960" y="1143000"/>
            <a:ext cx="4572000" cy="457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0" b="1">
                <a:solidFill>
                  <a:srgbClr val="E8432E"/>
                </a:solidFill>
                <a:latin typeface="Unbounded"/>
              </a:rPr>
              <a:t>01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6035040" y="1188720"/>
            <a:ext cx="5486400" cy="25603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5000" b="1">
                <a:solidFill>
                  <a:srgbClr val="16140F"/>
                </a:solidFill>
                <a:latin typeface="Unbounded"/>
              </a:rPr>
              <a:t>How they are born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6035040" y="420624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6B665C"/>
                </a:solidFill>
                <a:latin typeface="Unbounded"/>
              </a:rPr>
              <a:t>Most black holes start as giant stars that run out of fuel.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19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-2103120" y="-3017520"/>
            <a:ext cx="5120640" cy="5120640"/>
          </a:xfrm>
          <a:prstGeom prst="rect">
            <a:avLst/>
          </a:prstGeom>
          <a:solidFill>
            <a:srgbClr val="E8432E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9441180" y="4229100"/>
            <a:ext cx="3977640" cy="3977640"/>
          </a:xfrm>
          <a:prstGeom prst="rect">
            <a:avLst/>
          </a:prstGeom>
          <a:solidFill>
            <a:srgbClr val="F2B705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432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>
            <a:off x="10396728" y="-1124712"/>
            <a:ext cx="2798064" cy="2798064"/>
          </a:xfrm>
          <a:prstGeom prst="rect">
            <a:avLst/>
          </a:prstGeom>
          <a:noFill/>
          <a:ln w="9525">
            <a:solidFill>
              <a:srgbClr val="16140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566928" y="3776472"/>
            <a:ext cx="274320" cy="274320"/>
          </a:xfrm>
          <a:prstGeom prst="rect">
            <a:avLst/>
          </a:prstGeom>
          <a:solidFill>
            <a:srgbClr val="E843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3877056"/>
            <a:ext cx="10607040" cy="45720"/>
          </a:xfrm>
          <a:prstGeom prst="rect">
            <a:avLst/>
          </a:prstGeom>
          <a:solidFill>
            <a:srgbClr val="E843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4876678" cy="64008"/>
          </a:xfrm>
          <a:prstGeom prst="rect">
            <a:avLst/>
          </a:prstGeom>
          <a:solidFill>
            <a:srgbClr val="F2B70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502920"/>
            <a:ext cx="10515600" cy="1051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16140F"/>
                </a:solidFill>
                <a:latin typeface="Unbounded"/>
              </a:rPr>
              <a:t>The death of a giant star</a:t>
            </a:r>
          </a:p>
        </p:txBody>
      </p:sp>
      <p:sp>
        <p:nvSpPr>
          <p:cNvPr id="10" name="node0"/>
          <p:cNvSpPr/>
          <p:nvPr/>
        </p:nvSpPr>
        <p:spPr>
          <a:xfrm>
            <a:off x="914400" y="3762756"/>
            <a:ext cx="274320" cy="274320"/>
          </a:xfrm>
          <a:prstGeom prst="ellipse">
            <a:avLst/>
          </a:prstGeom>
          <a:solidFill>
            <a:srgbClr val="F4F1EA"/>
          </a:solidFill>
          <a:ln w="28575">
            <a:solidFill>
              <a:srgbClr val="E843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abel0"/>
          <p:cNvSpPr txBox="1"/>
          <p:nvPr/>
        </p:nvSpPr>
        <p:spPr>
          <a:xfrm>
            <a:off x="914400" y="2606040"/>
            <a:ext cx="2377440" cy="9144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8432E"/>
                </a:solidFill>
                <a:latin typeface="Unbounded"/>
              </a:rPr>
              <a:t>Fuel</a:t>
            </a:r>
          </a:p>
        </p:txBody>
      </p:sp>
      <p:sp>
        <p:nvSpPr>
          <p:cNvPr id="12" name="step0"/>
          <p:cNvSpPr txBox="1"/>
          <p:nvPr/>
        </p:nvSpPr>
        <p:spPr>
          <a:xfrm>
            <a:off x="914400" y="4343400"/>
            <a:ext cx="23774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6140F"/>
                </a:solidFill>
                <a:latin typeface="Unbounded"/>
              </a:rPr>
              <a:t>A star 20x the Sun burns hydrogen for millions of years.</a:t>
            </a:r>
          </a:p>
        </p:txBody>
      </p:sp>
      <p:sp>
        <p:nvSpPr>
          <p:cNvPr id="13" name="node1"/>
          <p:cNvSpPr/>
          <p:nvPr/>
        </p:nvSpPr>
        <p:spPr>
          <a:xfrm>
            <a:off x="3566160" y="3762756"/>
            <a:ext cx="274320" cy="274320"/>
          </a:xfrm>
          <a:prstGeom prst="ellipse">
            <a:avLst/>
          </a:prstGeom>
          <a:solidFill>
            <a:srgbClr val="F4F1EA"/>
          </a:solidFill>
          <a:ln w="28575">
            <a:solidFill>
              <a:srgbClr val="E843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abel1"/>
          <p:cNvSpPr txBox="1"/>
          <p:nvPr/>
        </p:nvSpPr>
        <p:spPr>
          <a:xfrm>
            <a:off x="3566160" y="2606040"/>
            <a:ext cx="2377440" cy="9144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2B705"/>
                </a:solidFill>
                <a:latin typeface="Unbounded"/>
              </a:rPr>
              <a:t>Collapse</a:t>
            </a:r>
          </a:p>
        </p:txBody>
      </p:sp>
      <p:sp>
        <p:nvSpPr>
          <p:cNvPr id="15" name="step1"/>
          <p:cNvSpPr txBox="1"/>
          <p:nvPr/>
        </p:nvSpPr>
        <p:spPr>
          <a:xfrm>
            <a:off x="3566160" y="4343400"/>
            <a:ext cx="23774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6140F"/>
                </a:solidFill>
                <a:latin typeface="Unbounded"/>
              </a:rPr>
              <a:t>Fuel runs out. Gravity crushes the core in under a second.</a:t>
            </a:r>
          </a:p>
        </p:txBody>
      </p:sp>
      <p:sp>
        <p:nvSpPr>
          <p:cNvPr id="16" name="node2"/>
          <p:cNvSpPr/>
          <p:nvPr/>
        </p:nvSpPr>
        <p:spPr>
          <a:xfrm>
            <a:off x="6217920" y="3762756"/>
            <a:ext cx="274320" cy="274320"/>
          </a:xfrm>
          <a:prstGeom prst="ellipse">
            <a:avLst/>
          </a:prstGeom>
          <a:solidFill>
            <a:srgbClr val="F4F1EA"/>
          </a:solidFill>
          <a:ln w="28575">
            <a:solidFill>
              <a:srgbClr val="E843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abel2"/>
          <p:cNvSpPr txBox="1"/>
          <p:nvPr/>
        </p:nvSpPr>
        <p:spPr>
          <a:xfrm>
            <a:off x="6217920" y="2606040"/>
            <a:ext cx="2377440" cy="9144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8432E"/>
                </a:solidFill>
                <a:latin typeface="Unbounded"/>
              </a:rPr>
              <a:t>Supernova</a:t>
            </a:r>
          </a:p>
        </p:txBody>
      </p:sp>
      <p:sp>
        <p:nvSpPr>
          <p:cNvPr id="18" name="step2"/>
          <p:cNvSpPr txBox="1"/>
          <p:nvPr/>
        </p:nvSpPr>
        <p:spPr>
          <a:xfrm>
            <a:off x="6217920" y="4343400"/>
            <a:ext cx="23774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6140F"/>
                </a:solidFill>
                <a:latin typeface="Unbounded"/>
              </a:rPr>
              <a:t>The outer layers blast away in a blinding explosion.</a:t>
            </a:r>
          </a:p>
        </p:txBody>
      </p:sp>
      <p:sp>
        <p:nvSpPr>
          <p:cNvPr id="19" name="node3"/>
          <p:cNvSpPr/>
          <p:nvPr/>
        </p:nvSpPr>
        <p:spPr>
          <a:xfrm>
            <a:off x="8869680" y="3762756"/>
            <a:ext cx="274320" cy="274320"/>
          </a:xfrm>
          <a:prstGeom prst="ellipse">
            <a:avLst/>
          </a:prstGeom>
          <a:solidFill>
            <a:srgbClr val="F4F1EA"/>
          </a:solidFill>
          <a:ln w="28575">
            <a:solidFill>
              <a:srgbClr val="E843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label3"/>
          <p:cNvSpPr txBox="1"/>
          <p:nvPr/>
        </p:nvSpPr>
        <p:spPr>
          <a:xfrm>
            <a:off x="8869680" y="2606040"/>
            <a:ext cx="2377440" cy="9144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2B705"/>
                </a:solidFill>
                <a:latin typeface="Unbounded"/>
              </a:rPr>
              <a:t>Singularity</a:t>
            </a:r>
          </a:p>
        </p:txBody>
      </p:sp>
      <p:sp>
        <p:nvSpPr>
          <p:cNvPr id="21" name="step3"/>
          <p:cNvSpPr txBox="1"/>
          <p:nvPr/>
        </p:nvSpPr>
        <p:spPr>
          <a:xfrm>
            <a:off x="8869680" y="4343400"/>
            <a:ext cx="23774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6140F"/>
                </a:solidFill>
                <a:latin typeface="Unbounded"/>
              </a:rPr>
              <a:t>The core keeps shrinking into a point of infinite density.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58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7315200" y="548640"/>
            <a:ext cx="5120640" cy="5120640"/>
          </a:xfrm>
          <a:prstGeom prst="rect">
            <a:avLst/>
          </a:prstGeom>
          <a:solidFill>
            <a:srgbClr val="E8432E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-2114550" y="4469130"/>
            <a:ext cx="3771900" cy="3771900"/>
          </a:xfrm>
          <a:prstGeom prst="rect">
            <a:avLst/>
          </a:prstGeom>
          <a:solidFill>
            <a:srgbClr val="F2B705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432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>
            <a:off x="7479792" y="1124712"/>
            <a:ext cx="4608576" cy="4608576"/>
          </a:xfrm>
          <a:prstGeom prst="rect">
            <a:avLst/>
          </a:prstGeom>
          <a:noFill/>
          <a:ln w="9525">
            <a:solidFill>
              <a:srgbClr val="16140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1064240" y="731520"/>
            <a:ext cx="457200" cy="457200"/>
          </a:xfrm>
          <a:prstGeom prst="rect">
            <a:avLst/>
          </a:prstGeom>
          <a:solidFill>
            <a:srgbClr val="E843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4617720"/>
            <a:ext cx="1097280" cy="82296"/>
          </a:xfrm>
          <a:prstGeom prst="rect">
            <a:avLst/>
          </a:prstGeom>
          <a:solidFill>
            <a:srgbClr val="E843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6095848" cy="64008"/>
          </a:xfrm>
          <a:prstGeom prst="rect">
            <a:avLst/>
          </a:prstGeom>
          <a:solidFill>
            <a:srgbClr val="F2B70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value"/>
          <p:cNvSpPr txBox="1"/>
          <p:nvPr/>
        </p:nvSpPr>
        <p:spPr>
          <a:xfrm>
            <a:off x="822960" y="914400"/>
            <a:ext cx="6583680" cy="35661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>
              <a:lnSpc>
                <a:spcPct val="90000"/>
              </a:lnSpc>
            </a:pPr>
            <a:r>
              <a:rPr sz="14900" b="1">
                <a:solidFill>
                  <a:srgbClr val="16140F"/>
                </a:solidFill>
                <a:latin typeface="Unbounded"/>
              </a:rPr>
              <a:t>6.5</a:t>
            </a:r>
            <a:r>
              <a:rPr sz="10400" b="1">
                <a:solidFill>
                  <a:srgbClr val="E8432E"/>
                </a:solidFill>
                <a:latin typeface="Unbounded"/>
              </a:rPr>
              <a:t>B</a:t>
            </a:r>
          </a:p>
        </p:txBody>
      </p:sp>
      <p:sp>
        <p:nvSpPr>
          <p:cNvPr id="10" name="label"/>
          <p:cNvSpPr txBox="1"/>
          <p:nvPr/>
        </p:nvSpPr>
        <p:spPr>
          <a:xfrm>
            <a:off x="822960" y="4846320"/>
            <a:ext cx="621792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6140F"/>
                </a:solidFill>
                <a:latin typeface="Unbounded"/>
              </a:rPr>
              <a:t>Solar masses in M87*</a:t>
            </a:r>
          </a:p>
        </p:txBody>
      </p:sp>
      <p:sp>
        <p:nvSpPr>
          <p:cNvPr id="11" name="note"/>
          <p:cNvSpPr txBox="1"/>
          <p:nvPr/>
        </p:nvSpPr>
        <p:spPr>
          <a:xfrm>
            <a:off x="822960" y="5532120"/>
            <a:ext cx="621792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665C"/>
                </a:solidFill>
                <a:latin typeface="Unbounded"/>
              </a:rPr>
              <a:t>The first black hole ever photographed, by the Event Horizon Telescope in 2019.</a:t>
            </a:r>
          </a:p>
        </p:txBody>
      </p:sp>
      <p:sp>
        <p:nvSpPr>
          <p:cNvPr id="12" name="context"/>
          <p:cNvSpPr txBox="1"/>
          <p:nvPr/>
        </p:nvSpPr>
        <p:spPr>
          <a:xfrm>
            <a:off x="8138160" y="2514600"/>
            <a:ext cx="3291840" cy="1828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6140F"/>
                </a:solidFill>
                <a:latin typeface="Unbounded"/>
              </a:rPr>
              <a:t>55 million light-years away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21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8801100" y="-2628900"/>
            <a:ext cx="4800600" cy="4800600"/>
          </a:xfrm>
          <a:prstGeom prst="rect">
            <a:avLst/>
          </a:prstGeom>
          <a:solidFill>
            <a:srgbClr val="E8432E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-1657350" y="4652010"/>
            <a:ext cx="3771900" cy="3771900"/>
          </a:xfrm>
          <a:prstGeom prst="rect">
            <a:avLst/>
          </a:prstGeom>
          <a:solidFill>
            <a:srgbClr val="F2B705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>
            <a:off x="10122408" y="-1307592"/>
            <a:ext cx="2798064" cy="2798064"/>
          </a:xfrm>
          <a:prstGeom prst="rect">
            <a:avLst/>
          </a:prstGeom>
          <a:noFill/>
          <a:ln w="9525">
            <a:solidFill>
              <a:srgbClr val="16140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1201400" y="502920"/>
            <a:ext cx="365760" cy="365760"/>
          </a:xfrm>
          <a:prstGeom prst="rect">
            <a:avLst/>
          </a:prstGeom>
          <a:solidFill>
            <a:srgbClr val="E843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1691640"/>
            <a:ext cx="914400" cy="82296"/>
          </a:xfrm>
          <a:prstGeom prst="rect">
            <a:avLst/>
          </a:prstGeom>
          <a:solidFill>
            <a:srgbClr val="E843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7315017" cy="64008"/>
          </a:xfrm>
          <a:prstGeom prst="rect">
            <a:avLst/>
          </a:prstGeom>
          <a:solidFill>
            <a:srgbClr val="F2B70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502920"/>
            <a:ext cx="10515600" cy="1051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16140F"/>
                </a:solidFill>
                <a:latin typeface="Unbounded"/>
              </a:rPr>
              <a:t>Three kinds of black hole</a:t>
            </a:r>
          </a:p>
        </p:txBody>
      </p:sp>
      <p:sp>
        <p:nvSpPr>
          <p:cNvPr id="10" name="card0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6859"/>
            </a:avLst>
          </a:prstGeom>
          <a:solidFill>
            <a:srgbClr val="FFFFFF"/>
          </a:solidFill>
          <a:ln w="9525">
            <a:solidFill>
              <a:srgbClr val="E8432E">
                <a:alpha val="35000"/>
              </a:srgbClr>
            </a:solidFill>
          </a:ln>
        </p:spPr>
        <p:txBody>
          <a:bodyPr rtlCol="0" anchor="t" wrap="square" lIns="292608" rIns="292608" tIns="292608" bIns="292608">
            <a:no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400" b="1">
                <a:solidFill>
                  <a:srgbClr val="E8432E"/>
                </a:solidFill>
                <a:latin typeface="Unbounded"/>
              </a:rPr>
              <a:t>01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6140F"/>
                </a:solidFill>
                <a:latin typeface="Unbounded"/>
              </a:rPr>
              <a:t>Stellar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6B665C"/>
                </a:solidFill>
                <a:latin typeface="Unbounded"/>
              </a:rPr>
              <a:t>5 to 100 Suns. Left behind by collapsing massive stars.</a:t>
            </a:r>
          </a:p>
        </p:txBody>
      </p:sp>
      <p:sp>
        <p:nvSpPr>
          <p:cNvPr id="11" name="card1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6859"/>
            </a:avLst>
          </a:prstGeom>
          <a:solidFill>
            <a:srgbClr val="FFFFFF"/>
          </a:solidFill>
          <a:ln w="9525">
            <a:solidFill>
              <a:srgbClr val="E8432E">
                <a:alpha val="35000"/>
              </a:srgbClr>
            </a:solidFill>
          </a:ln>
        </p:spPr>
        <p:txBody>
          <a:bodyPr rtlCol="0" anchor="t" wrap="square" lIns="292608" rIns="292608" tIns="292608" bIns="292608">
            <a:no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400" b="1">
                <a:solidFill>
                  <a:srgbClr val="E8432E"/>
                </a:solidFill>
                <a:latin typeface="Unbounded"/>
              </a:rPr>
              <a:t>02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6140F"/>
                </a:solidFill>
                <a:latin typeface="Unbounded"/>
              </a:rPr>
              <a:t>Intermediate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6B665C"/>
                </a:solidFill>
                <a:latin typeface="Unbounded"/>
              </a:rPr>
              <a:t>Hundreds to thousands of Suns. Rare, and hard to find.</a:t>
            </a:r>
          </a:p>
        </p:txBody>
      </p:sp>
      <p:sp>
        <p:nvSpPr>
          <p:cNvPr id="12" name="card2"/>
          <p:cNvSpPr/>
          <p:nvPr/>
        </p:nvSpPr>
        <p:spPr>
          <a:xfrm>
            <a:off x="8036357" y="2148840"/>
            <a:ext cx="3332378" cy="3794760"/>
          </a:xfrm>
          <a:prstGeom prst="roundRect">
            <a:avLst>
              <a:gd name="adj" fmla="val 6859"/>
            </a:avLst>
          </a:prstGeom>
          <a:solidFill>
            <a:srgbClr val="FFFFFF"/>
          </a:solidFill>
          <a:ln w="9525">
            <a:solidFill>
              <a:srgbClr val="E8432E">
                <a:alpha val="35000"/>
              </a:srgbClr>
            </a:solidFill>
          </a:ln>
        </p:spPr>
        <p:txBody>
          <a:bodyPr rtlCol="0" anchor="t" wrap="square" lIns="292608" rIns="292608" tIns="292608" bIns="292608">
            <a:no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400" b="1">
                <a:solidFill>
                  <a:srgbClr val="E8432E"/>
                </a:solidFill>
                <a:latin typeface="Unbounded"/>
              </a:rPr>
              <a:t>03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6140F"/>
                </a:solidFill>
                <a:latin typeface="Unbounded"/>
              </a:rPr>
              <a:t>Supermassive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6B665C"/>
                </a:solidFill>
                <a:latin typeface="Unbounded"/>
              </a:rPr>
              <a:t>Millions to billions of Suns. One sits at the centre of most galaxies.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22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8046720" y="1645920"/>
            <a:ext cx="5120640" cy="5120640"/>
          </a:xfrm>
          <a:prstGeom prst="rect">
            <a:avLst/>
          </a:prstGeom>
          <a:solidFill>
            <a:srgbClr val="E8432E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-2114550" y="-2114550"/>
            <a:ext cx="3771900" cy="3771900"/>
          </a:xfrm>
          <a:prstGeom prst="rect">
            <a:avLst/>
          </a:prstGeom>
          <a:solidFill>
            <a:srgbClr val="F2B705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>
            <a:off x="8531352" y="1536192"/>
            <a:ext cx="3785616" cy="3785616"/>
          </a:xfrm>
          <a:prstGeom prst="rect">
            <a:avLst/>
          </a:prstGeom>
          <a:noFill/>
          <a:ln w="9525">
            <a:solidFill>
              <a:srgbClr val="16140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8229600" y="1097280"/>
            <a:ext cx="502920" cy="502920"/>
          </a:xfrm>
          <a:prstGeom prst="rect">
            <a:avLst/>
          </a:prstGeom>
          <a:solidFill>
            <a:srgbClr val="E843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1828800"/>
            <a:ext cx="914400" cy="82296"/>
          </a:xfrm>
          <a:prstGeom prst="rect">
            <a:avLst/>
          </a:prstGeom>
          <a:solidFill>
            <a:srgbClr val="E843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8534187" cy="64008"/>
          </a:xfrm>
          <a:prstGeom prst="rect">
            <a:avLst/>
          </a:prstGeom>
          <a:solidFill>
            <a:srgbClr val="F2B70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640080"/>
            <a:ext cx="6949440" cy="10972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16140F"/>
                </a:solidFill>
                <a:latin typeface="Unbounded"/>
              </a:rPr>
              <a:t>What happens if you fall in</a:t>
            </a:r>
          </a:p>
        </p:txBody>
      </p:sp>
      <p:sp>
        <p:nvSpPr>
          <p:cNvPr id="10" name="dot0"/>
          <p:cNvSpPr/>
          <p:nvPr/>
        </p:nvSpPr>
        <p:spPr>
          <a:xfrm>
            <a:off x="841248" y="2346960"/>
            <a:ext cx="128016" cy="128016"/>
          </a:xfrm>
          <a:prstGeom prst="ellipse">
            <a:avLst/>
          </a:prstGeom>
          <a:solidFill>
            <a:srgbClr val="E843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oint0"/>
          <p:cNvSpPr txBox="1"/>
          <p:nvPr/>
        </p:nvSpPr>
        <p:spPr>
          <a:xfrm>
            <a:off x="1234440" y="2240280"/>
            <a:ext cx="6309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6140F"/>
                </a:solidFill>
                <a:latin typeface="Unbounded"/>
              </a:rPr>
              <a:t>Time slows down for you, as seen from far away.</a:t>
            </a:r>
          </a:p>
        </p:txBody>
      </p:sp>
      <p:sp>
        <p:nvSpPr>
          <p:cNvPr id="12" name="dot1"/>
          <p:cNvSpPr/>
          <p:nvPr/>
        </p:nvSpPr>
        <p:spPr>
          <a:xfrm>
            <a:off x="841248" y="3352800"/>
            <a:ext cx="128016" cy="128016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oint1"/>
          <p:cNvSpPr txBox="1"/>
          <p:nvPr/>
        </p:nvSpPr>
        <p:spPr>
          <a:xfrm>
            <a:off x="1234440" y="3246120"/>
            <a:ext cx="6309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6140F"/>
                </a:solidFill>
                <a:latin typeface="Unbounded"/>
              </a:rPr>
              <a:t>Tidal forces stretch you thin: spaghettification.</a:t>
            </a:r>
          </a:p>
        </p:txBody>
      </p:sp>
      <p:sp>
        <p:nvSpPr>
          <p:cNvPr id="14" name="dot2"/>
          <p:cNvSpPr/>
          <p:nvPr/>
        </p:nvSpPr>
        <p:spPr>
          <a:xfrm>
            <a:off x="841248" y="4358640"/>
            <a:ext cx="128016" cy="128016"/>
          </a:xfrm>
          <a:prstGeom prst="ellipse">
            <a:avLst/>
          </a:prstGeom>
          <a:solidFill>
            <a:srgbClr val="E843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oint2"/>
          <p:cNvSpPr txBox="1"/>
          <p:nvPr/>
        </p:nvSpPr>
        <p:spPr>
          <a:xfrm>
            <a:off x="1234440" y="4251960"/>
            <a:ext cx="6309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6140F"/>
                </a:solidFill>
                <a:latin typeface="Unbounded"/>
              </a:rPr>
              <a:t>Past the event horizon, every path leads inward.</a:t>
            </a:r>
          </a:p>
        </p:txBody>
      </p:sp>
      <p:sp>
        <p:nvSpPr>
          <p:cNvPr id="16" name="dot3"/>
          <p:cNvSpPr/>
          <p:nvPr/>
        </p:nvSpPr>
        <p:spPr>
          <a:xfrm>
            <a:off x="841248" y="5364480"/>
            <a:ext cx="128016" cy="128016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oint3"/>
          <p:cNvSpPr txBox="1"/>
          <p:nvPr/>
        </p:nvSpPr>
        <p:spPr>
          <a:xfrm>
            <a:off x="1234440" y="5257800"/>
            <a:ext cx="6309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6140F"/>
                </a:solidFill>
                <a:latin typeface="Unbounded"/>
              </a:rPr>
              <a:t>No signal you send can ever get back out.</a:t>
            </a:r>
          </a:p>
        </p:txBody>
      </p:sp>
      <p:sp>
        <p:nvSpPr>
          <p:cNvPr id="18" name="aside"/>
          <p:cNvSpPr txBox="1"/>
          <p:nvPr/>
        </p:nvSpPr>
        <p:spPr>
          <a:xfrm>
            <a:off x="8686800" y="2377440"/>
            <a:ext cx="3108960" cy="2194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2000"/>
              </a:lnSpc>
            </a:pPr>
            <a:r>
              <a:rPr sz="3000" b="1">
                <a:solidFill>
                  <a:srgbClr val="16140F"/>
                </a:solidFill>
                <a:latin typeface="Unbounded"/>
              </a:rPr>
              <a:t>No way back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51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4114800" y="-3291840"/>
            <a:ext cx="3840480" cy="3840480"/>
          </a:xfrm>
          <a:prstGeom prst="rect">
            <a:avLst/>
          </a:prstGeom>
          <a:solidFill>
            <a:srgbClr val="E8432E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3977640" y="5257800"/>
            <a:ext cx="4114800" cy="4114800"/>
          </a:xfrm>
          <a:prstGeom prst="rect">
            <a:avLst/>
          </a:prstGeom>
          <a:solidFill>
            <a:srgbClr val="F2B705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6067044" y="1874520"/>
            <a:ext cx="54864" cy="4297680"/>
          </a:xfrm>
          <a:prstGeom prst="rect">
            <a:avLst/>
          </a:prstGeom>
          <a:solidFill>
            <a:srgbClr val="E8432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>
            <a:off x="5522976" y="3145536"/>
            <a:ext cx="1152144" cy="1152144"/>
          </a:xfrm>
          <a:prstGeom prst="rect">
            <a:avLst/>
          </a:prstGeom>
          <a:noFill/>
          <a:ln w="9525">
            <a:solidFill>
              <a:srgbClr val="16140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5916168" y="3538728"/>
            <a:ext cx="365760" cy="365760"/>
          </a:xfrm>
          <a:prstGeom prst="rect">
            <a:avLst/>
          </a:prstGeom>
          <a:solidFill>
            <a:srgbClr val="E843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1691640"/>
            <a:ext cx="914400" cy="82296"/>
          </a:xfrm>
          <a:prstGeom prst="rect">
            <a:avLst/>
          </a:prstGeom>
          <a:solidFill>
            <a:srgbClr val="E843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9753356" cy="64008"/>
          </a:xfrm>
          <a:prstGeom prst="rect">
            <a:avLst/>
          </a:prstGeom>
          <a:solidFill>
            <a:srgbClr val="F2B70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502920"/>
            <a:ext cx="10515600" cy="1051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16140F"/>
                </a:solidFill>
                <a:latin typeface="Unbounded"/>
              </a:rPr>
              <a:t>Myth vs reality</a:t>
            </a:r>
          </a:p>
        </p:txBody>
      </p:sp>
      <p:sp>
        <p:nvSpPr>
          <p:cNvPr id="10" name="left"/>
          <p:cNvSpPr/>
          <p:nvPr/>
        </p:nvSpPr>
        <p:spPr>
          <a:xfrm>
            <a:off x="822960" y="1965960"/>
            <a:ext cx="4846320" cy="41148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365760" rIns="365760" tIns="365760" bIns="365760">
            <a:no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1400" b="1" spc="300">
                <a:solidFill>
                  <a:srgbClr val="E8432E"/>
                </a:solidFill>
                <a:latin typeface="Unbounded"/>
              </a:rPr>
              <a:t>MYTH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16140F"/>
                </a:solidFill>
                <a:latin typeface="Unbounded"/>
              </a:rPr>
              <a:t>—  They suck in everything nearby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16140F"/>
                </a:solidFill>
                <a:latin typeface="Unbounded"/>
              </a:rPr>
              <a:t>—  They are holes in space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16140F"/>
                </a:solidFill>
                <a:latin typeface="Unbounded"/>
              </a:rPr>
              <a:t>—  We can never see them</a:t>
            </a:r>
          </a:p>
        </p:txBody>
      </p:sp>
      <p:sp>
        <p:nvSpPr>
          <p:cNvPr id="11" name="right"/>
          <p:cNvSpPr/>
          <p:nvPr/>
        </p:nvSpPr>
        <p:spPr>
          <a:xfrm>
            <a:off x="6537960" y="1965960"/>
            <a:ext cx="4846320" cy="41148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365760" rIns="365760" tIns="365760" bIns="365760">
            <a:no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1400" b="1" spc="300">
                <a:solidFill>
                  <a:srgbClr val="F2B705"/>
                </a:solidFill>
                <a:latin typeface="Unbounded"/>
              </a:rPr>
              <a:t>REALITY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16140F"/>
                </a:solidFill>
                <a:latin typeface="Unbounded"/>
              </a:rPr>
              <a:t>—  From far away they pull like any other mass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16140F"/>
                </a:solidFill>
                <a:latin typeface="Unbounded"/>
              </a:rPr>
              <a:t>—  They are extremely dense objects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16140F"/>
                </a:solidFill>
                <a:latin typeface="Unbounded"/>
              </a:rPr>
              <a:t>—  We image their glowing disks and shadows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18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-1851660" y="4091940"/>
            <a:ext cx="4160520" cy="4160520"/>
          </a:xfrm>
          <a:prstGeom prst="rect">
            <a:avLst/>
          </a:prstGeom>
          <a:solidFill>
            <a:srgbClr val="E8432E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8172450" y="-514350"/>
            <a:ext cx="5143500" cy="5143500"/>
          </a:xfrm>
          <a:prstGeom prst="rect">
            <a:avLst/>
          </a:prstGeom>
          <a:solidFill>
            <a:srgbClr val="F2B705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>
            <a:off x="7155180" y="1577340"/>
            <a:ext cx="3703320" cy="3703320"/>
          </a:xfrm>
          <a:prstGeom prst="rect">
            <a:avLst/>
          </a:prstGeom>
          <a:noFill/>
          <a:ln w="9525">
            <a:solidFill>
              <a:srgbClr val="16140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6629400" y="5394960"/>
            <a:ext cx="457200" cy="457200"/>
          </a:xfrm>
          <a:prstGeom prst="rect">
            <a:avLst/>
          </a:prstGeom>
          <a:solidFill>
            <a:srgbClr val="E843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3017520"/>
            <a:ext cx="914400" cy="82296"/>
          </a:xfrm>
          <a:prstGeom prst="rect">
            <a:avLst/>
          </a:prstGeom>
          <a:solidFill>
            <a:srgbClr val="E843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10972526" cy="64008"/>
          </a:xfrm>
          <a:prstGeom prst="rect">
            <a:avLst/>
          </a:prstGeom>
          <a:solidFill>
            <a:srgbClr val="F2B70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 txBox="1"/>
          <p:nvPr/>
        </p:nvSpPr>
        <p:spPr>
          <a:xfrm>
            <a:off x="822960" y="1005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400">
                <a:solidFill>
                  <a:srgbClr val="E8432E"/>
                </a:solidFill>
                <a:latin typeface="Unbounded"/>
              </a:rPr>
              <a:t>OPEN QUESTION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822960" y="1371600"/>
            <a:ext cx="5120640" cy="15544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500" b="1">
                <a:solidFill>
                  <a:srgbClr val="16140F"/>
                </a:solidFill>
                <a:latin typeface="Unbounded"/>
              </a:rPr>
              <a:t>The information paradox</a:t>
            </a:r>
          </a:p>
        </p:txBody>
      </p:sp>
      <p:sp>
        <p:nvSpPr>
          <p:cNvPr id="11" name="body"/>
          <p:cNvSpPr txBox="1"/>
          <p:nvPr/>
        </p:nvSpPr>
        <p:spPr>
          <a:xfrm>
            <a:off x="822960" y="3337560"/>
            <a:ext cx="5120640" cy="2926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6B665C"/>
                </a:solidFill>
                <a:latin typeface="Unbounded"/>
              </a:rPr>
              <a:t>Hawking showed black holes slowly evaporate. If they vanish, what happens to the information about everything that fell in? Physicists are still arguing.</a:t>
            </a:r>
          </a:p>
        </p:txBody>
      </p:sp>
      <p:sp>
        <p:nvSpPr>
          <p:cNvPr id="12" name="aside"/>
          <p:cNvSpPr txBox="1"/>
          <p:nvPr/>
        </p:nvSpPr>
        <p:spPr>
          <a:xfrm>
            <a:off x="7315200" y="2194560"/>
            <a:ext cx="3291840" cy="2468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2000"/>
              </a:lnSpc>
            </a:pPr>
            <a:r>
              <a:rPr sz="3400" b="1">
                <a:solidFill>
                  <a:srgbClr val="16140F"/>
                </a:solidFill>
                <a:latin typeface="Unbounded"/>
              </a:rPr>
              <a:t>Where does it go?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22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3218688" y="18288"/>
            <a:ext cx="5760720" cy="5760720"/>
          </a:xfrm>
          <a:prstGeom prst="rect">
            <a:avLst/>
          </a:prstGeom>
          <a:solidFill>
            <a:srgbClr val="E8432E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-1714500" y="4686300"/>
            <a:ext cx="3429000" cy="3429000"/>
          </a:xfrm>
          <a:prstGeom prst="rect">
            <a:avLst/>
          </a:prstGeom>
          <a:solidFill>
            <a:srgbClr val="F2B705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432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>
            <a:off x="2807208" y="-393192"/>
            <a:ext cx="6583680" cy="6583680"/>
          </a:xfrm>
          <a:prstGeom prst="rect">
            <a:avLst/>
          </a:prstGeom>
          <a:noFill/>
          <a:ln w="9525">
            <a:solidFill>
              <a:srgbClr val="16140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0332720" y="5394960"/>
            <a:ext cx="457200" cy="457200"/>
          </a:xfrm>
          <a:prstGeom prst="rect">
            <a:avLst/>
          </a:prstGeom>
          <a:solidFill>
            <a:srgbClr val="E843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5641848" y="3657600"/>
            <a:ext cx="914400" cy="82296"/>
          </a:xfrm>
          <a:prstGeom prst="rect">
            <a:avLst/>
          </a:prstGeom>
          <a:solidFill>
            <a:srgbClr val="E843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B70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2898648" y="1234440"/>
            <a:ext cx="6400800" cy="22402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2000"/>
              </a:lnSpc>
            </a:pPr>
            <a:r>
              <a:rPr sz="4900" b="1">
                <a:solidFill>
                  <a:srgbClr val="16140F"/>
                </a:solidFill>
                <a:latin typeface="Unbounded"/>
              </a:rPr>
              <a:t>The universe is stranger than we think</a:t>
            </a:r>
          </a:p>
        </p:txBody>
      </p:sp>
      <p:sp>
        <p:nvSpPr>
          <p:cNvPr id="10" name="subtitle"/>
          <p:cNvSpPr txBox="1"/>
          <p:nvPr/>
        </p:nvSpPr>
        <p:spPr>
          <a:xfrm>
            <a:off x="3127248" y="3931920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6B665C"/>
                </a:solidFill>
                <a:latin typeface="Unbounded"/>
              </a:rPr>
              <a:t>Thank you. Questions?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14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Holes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