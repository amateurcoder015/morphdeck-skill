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Layouts</c:v>
                </c:pt>
              </c:strCache>
            </c:strRef>
          </c:tx>
          <c:spPr>
            <a:solidFill>
              <a:srgbClr val="7C5CFF"/>
            </a:solidFill>
          </c:spPr>
          <c:cat>
            <c:strRef>
              <c:f>Sheet1!$A$2:$A$4</c:f>
              <c:strCache>
                <c:ptCount val="3"/>
                <c:pt idx="0">
                  <c:v>v1</c:v>
                </c:pt>
                <c:pt idx="1">
                  <c:v>v2</c:v>
                </c:pt>
                <c:pt idx="2">
                  <c:v>v3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18</c:v>
                </c:pt>
                <c:pt idx="2">
                  <c:v>19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F4F5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0C3"/>
            </a:solidFill>
          </a:ln>
        </c:spPr>
        <c:txPr>
          <a:bodyPr/>
          <a:lstStyle/>
          <a:p>
            <a:pPr>
              <a:defRPr sz="1200">
                <a:solidFill>
                  <a:srgbClr val="F4F5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9AA0C3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AA0C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9AA0C3"/>
          </a:solidFill>
          <a:latin typeface="Unbounde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Slides</c:v>
                </c:pt>
              </c:strCache>
            </c:strRef>
          </c:tx>
          <c:dPt>
            <c:idx val="0"/>
            <c:spPr>
              <a:solidFill>
                <a:srgbClr val="7C5CFF"/>
              </a:solidFill>
              <a:ln w="25400">
                <a:solidFill>
                  <a:srgbClr val="0A0B1A"/>
                </a:solidFill>
              </a:ln>
            </c:spPr>
          </c:dPt>
          <c:dPt>
            <c:idx val="1"/>
            <c:spPr>
              <a:solidFill>
                <a:srgbClr val="22D3EE"/>
              </a:solidFill>
              <a:ln w="25400">
                <a:solidFill>
                  <a:srgbClr val="0A0B1A"/>
                </a:solidFill>
              </a:ln>
            </c:spPr>
          </c:dPt>
          <c:dPt>
            <c:idx val="2"/>
            <c:spPr>
              <a:solidFill>
                <a:srgbClr val="9AA0C3"/>
              </a:solidFill>
              <a:ln w="25400">
                <a:solidFill>
                  <a:srgbClr val="0A0B1A"/>
                </a:solidFill>
              </a:ln>
            </c:spPr>
          </c:dPt>
          <c:dPt>
            <c:idx val="3"/>
            <c:spPr>
              <a:solidFill>
                <a:srgbClr val="F4F5FF"/>
              </a:solidFill>
              <a:ln w="25400">
                <a:solidFill>
                  <a:srgbClr val="0A0B1A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Text &amp; story</c:v>
                </c:pt>
                <c:pt idx="1">
                  <c:v>Structure</c:v>
                </c:pt>
                <c:pt idx="2">
                  <c:v>Visuals</c:v>
                </c:pt>
                <c:pt idx="3">
                  <c:v>Data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10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 b="1">
                  <a:solidFill>
                    <a:srgbClr val="0A0B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  <c:txPr>
        <a:bodyPr/>
        <a:lstStyle/>
        <a:p>
          <a:pPr>
            <a:defRPr>
              <a:solidFill>
                <a:srgbClr val="F4F5FF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9AA0C3"/>
          </a:solidFill>
          <a:latin typeface="Unbounded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you are about to see was generated by morphdeck itself, from one JSON spec.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items are clickable in slideshow mode. Each one jumps to its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credit: AI-generated image (Cloudflare Workers AI, FLUX.1 schnell). Prompt: vintage film projector casting a violet and cyan light beam in a dark cinema, deep navy palette, cinematic photo, centered subject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credit: AI-generated image (Cloudflare Workers AI, FLUX.1 schnell). Prompt: abstract glowing violet and cyan light trails sweeping through a dark space, long exposure, deep navy and violet palette with cyan accents, cinematic lighting, bright trails on the right, empty dark space on the left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credit: AI-generated image (Cloudflare Workers AI, FLUX.1 schnell). Prompt: futuristic city skyline at dusk with glowing towers, deep navy and violet palette with cyan accents, cinematic lighting, photo</a:t>
            </a:r>
          </a:p>
          <a:p/>
          <a:p>
            <a:r>
              <a:t>Image credit: AI-generated image (Cloudflare Workers AI, FLUX.1 schnell). Prompt: astronaut floating above a violet nebula, deep navy and violet palette with cyan accents, cinematic lighting, photo</a:t>
            </a:r>
          </a:p>
          <a:p/>
          <a:p>
            <a:r>
              <a:t>Image credit: “Valentines Day” by Defence Images (CC BY-SA 2.0) — https://www.flickr.com/photos/48399297@N04/32902076795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credit: AI-generated image (Cloudflare Workers AI, FLUX.1 schnell). Prompt: elegant abstract composition of glowing glass spheres in violet, cyan, emerald, amber and gold, deep navy and violet palette with cyan accents, cinematic lighting, vertical composition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8.xml"/><Relationship Id="rId5" Type="http://schemas.openxmlformats.org/officeDocument/2006/relationships/slide" Target="slide16.xml"/><Relationship Id="rId6" Type="http://schemas.openxmlformats.org/officeDocument/2006/relationships/slide" Target="slide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6035040" y="-1645920"/>
            <a:ext cx="7863840" cy="786384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2377440" y="3291840"/>
            <a:ext cx="5120640" cy="512064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5C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>
            <a:off x="7680960" y="640080"/>
            <a:ext cx="4937760" cy="493776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0607040" y="5212080"/>
            <a:ext cx="548640" cy="5486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4617720"/>
            <a:ext cx="137160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530074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400">
                <a:solidFill>
                  <a:srgbClr val="7C5CFF"/>
                </a:solidFill>
                <a:latin typeface="Unbounded"/>
              </a:rPr>
              <a:t>INTRODUCING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822960" y="1783080"/>
            <a:ext cx="7589520" cy="26974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6600" b="1">
                <a:solidFill>
                  <a:srgbClr val="F4F5FF"/>
                </a:solidFill>
                <a:latin typeface="Unbounded"/>
              </a:rPr>
              <a:t>morphdeck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822960" y="4937760"/>
            <a:ext cx="69494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AA0C3"/>
                </a:solidFill>
                <a:latin typeface="Unbounded"/>
              </a:rPr>
              <a:t>Type a topic. Get a PowerPoint that moves like a film.</a:t>
            </a:r>
          </a:p>
        </p:txBody>
      </p:sp>
      <p:sp>
        <p:nvSpPr>
          <p:cNvPr id="12" name="byline"/>
          <p:cNvSpPr txBox="1"/>
          <p:nvPr/>
        </p:nvSpPr>
        <p:spPr>
          <a:xfrm>
            <a:off x="822960" y="617220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0C3"/>
                </a:solidFill>
                <a:latin typeface="Unbounded"/>
              </a:rPr>
              <a:t>A Claude Code skill · github.com/amateurcoder015/morphdeck-skill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405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3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20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22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-2926080" y="-2926080"/>
            <a:ext cx="8229600" cy="82296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8412480" y="310896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1188720" y="1051560"/>
            <a:ext cx="9784080" cy="4754880"/>
          </a:xfrm>
          <a:prstGeom prst="rect">
            <a:avLst/>
          </a:prstGeom>
          <a:solidFill>
            <a:srgbClr val="1517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8400000">
            <a:off x="-1737360" y="3840480"/>
            <a:ext cx="4206240" cy="420624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0972800" y="822960"/>
            <a:ext cx="411480" cy="4114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1783080" y="1600200"/>
            <a:ext cx="82296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1060147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tement"/>
          <p:cNvSpPr txBox="1"/>
          <p:nvPr/>
        </p:nvSpPr>
        <p:spPr>
          <a:xfrm>
            <a:off x="1783080" y="1874520"/>
            <a:ext cx="877824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F4F5FF"/>
                </a:solidFill>
                <a:latin typeface="Unbounded"/>
              </a:rPr>
              <a:t>Most slide decks just sit there. This one moves like a single camera shot.</a:t>
            </a:r>
          </a:p>
        </p:txBody>
      </p:sp>
      <p:sp>
        <p:nvSpPr>
          <p:cNvPr id="10" name="attribution"/>
          <p:cNvSpPr txBox="1"/>
          <p:nvPr/>
        </p:nvSpPr>
        <p:spPr>
          <a:xfrm>
            <a:off x="1783080" y="4983480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C5CFF"/>
                </a:solidFill>
                <a:latin typeface="Unbounded"/>
              </a:rPr>
              <a:t>— The idea in one line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2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81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13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15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-2743200" y="2286000"/>
            <a:ext cx="7315200" cy="73152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9144000" y="-27432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5349240" y="822960"/>
            <a:ext cx="36576" cy="5212080"/>
          </a:xfrm>
          <a:prstGeom prst="rect">
            <a:avLst/>
          </a:prstGeom>
          <a:solidFill>
            <a:srgbClr val="7C5C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6800000">
            <a:off x="-1280160" y="3291840"/>
            <a:ext cx="4206240" cy="420624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4709160" y="868680"/>
            <a:ext cx="411480" cy="4114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3063240"/>
            <a:ext cx="91440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1590221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914400"/>
            <a:ext cx="4206240" cy="20116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400" b="1">
                <a:solidFill>
                  <a:srgbClr val="F4F5FF"/>
                </a:solidFill>
                <a:latin typeface="Unbounded"/>
              </a:rPr>
              <a:t>The tour</a:t>
            </a:r>
          </a:p>
        </p:txBody>
      </p:sp>
      <p:sp>
        <p:nvSpPr>
          <p:cNvPr id="10" name="num0">
            <a:hlinkClick action="ppaction://hlinksldjump" r:id="rId3"/>
          </p:cNvPr>
          <p:cNvSpPr txBox="1"/>
          <p:nvPr/>
        </p:nvSpPr>
        <p:spPr>
          <a:xfrm>
            <a:off x="5852160" y="1325880"/>
            <a:ext cx="82296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5CFF"/>
                </a:solidFill>
                <a:latin typeface="Unbounded"/>
              </a:rPr>
              <a:t>01</a:t>
            </a:r>
          </a:p>
        </p:txBody>
      </p:sp>
      <p:sp>
        <p:nvSpPr>
          <p:cNvPr id="11" name="item0">
            <a:hlinkClick action="ppaction://hlinksldjump" r:id="rId3"/>
          </p:cNvPr>
          <p:cNvSpPr txBox="1"/>
          <p:nvPr/>
        </p:nvSpPr>
        <p:spPr>
          <a:xfrm>
            <a:off x="6720840" y="1325880"/>
            <a:ext cx="475488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F5FF"/>
                </a:solidFill>
                <a:latin typeface="Unbounded"/>
              </a:rPr>
              <a:t>The idea</a:t>
            </a:r>
            <a:r>
              <a:rPr sz="2400">
                <a:solidFill>
                  <a:srgbClr val="22D3EE"/>
                </a:solidFill>
                <a:latin typeface="Unbounded"/>
              </a:rPr>
              <a:t>  →</a:t>
            </a:r>
          </a:p>
        </p:txBody>
      </p:sp>
      <p:sp>
        <p:nvSpPr>
          <p:cNvPr id="12" name="num1">
            <a:hlinkClick action="ppaction://hlinksldjump" r:id="rId4"/>
          </p:cNvPr>
          <p:cNvSpPr txBox="1"/>
          <p:nvPr/>
        </p:nvSpPr>
        <p:spPr>
          <a:xfrm>
            <a:off x="5852160" y="2377440"/>
            <a:ext cx="82296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2D3EE"/>
                </a:solidFill>
                <a:latin typeface="Unbounded"/>
              </a:rPr>
              <a:t>02</a:t>
            </a:r>
          </a:p>
        </p:txBody>
      </p:sp>
      <p:sp>
        <p:nvSpPr>
          <p:cNvPr id="13" name="item1">
            <a:hlinkClick action="ppaction://hlinksldjump" r:id="rId4"/>
          </p:cNvPr>
          <p:cNvSpPr txBox="1"/>
          <p:nvPr/>
        </p:nvSpPr>
        <p:spPr>
          <a:xfrm>
            <a:off x="6720840" y="2377440"/>
            <a:ext cx="475488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F5FF"/>
                </a:solidFill>
                <a:latin typeface="Unbounded"/>
              </a:rPr>
              <a:t>What it can do</a:t>
            </a:r>
            <a:r>
              <a:rPr sz="2400">
                <a:solidFill>
                  <a:srgbClr val="22D3EE"/>
                </a:solidFill>
                <a:latin typeface="Unbounded"/>
              </a:rPr>
              <a:t>  →</a:t>
            </a:r>
          </a:p>
        </p:txBody>
      </p:sp>
      <p:sp>
        <p:nvSpPr>
          <p:cNvPr id="14" name="num2">
            <a:hlinkClick action="ppaction://hlinksldjump" r:id="rId5"/>
          </p:cNvPr>
          <p:cNvSpPr txBox="1"/>
          <p:nvPr/>
        </p:nvSpPr>
        <p:spPr>
          <a:xfrm>
            <a:off x="5852160" y="3429000"/>
            <a:ext cx="82296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5CFF"/>
                </a:solidFill>
                <a:latin typeface="Unbounded"/>
              </a:rPr>
              <a:t>03</a:t>
            </a:r>
          </a:p>
        </p:txBody>
      </p:sp>
      <p:sp>
        <p:nvSpPr>
          <p:cNvPr id="15" name="item2">
            <a:hlinkClick action="ppaction://hlinksldjump" r:id="rId5"/>
          </p:cNvPr>
          <p:cNvSpPr txBox="1"/>
          <p:nvPr/>
        </p:nvSpPr>
        <p:spPr>
          <a:xfrm>
            <a:off x="6720840" y="3429000"/>
            <a:ext cx="475488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F5FF"/>
                </a:solidFill>
                <a:latin typeface="Unbounded"/>
              </a:rPr>
              <a:t>Make it yours</a:t>
            </a:r>
            <a:r>
              <a:rPr sz="2400">
                <a:solidFill>
                  <a:srgbClr val="22D3EE"/>
                </a:solidFill>
                <a:latin typeface="Unbounded"/>
              </a:rPr>
              <a:t>  →</a:t>
            </a:r>
          </a:p>
        </p:txBody>
      </p:sp>
      <p:sp>
        <p:nvSpPr>
          <p:cNvPr id="16" name="num3">
            <a:hlinkClick action="ppaction://hlinksldjump" r:id="rId6"/>
          </p:cNvPr>
          <p:cNvSpPr txBox="1"/>
          <p:nvPr/>
        </p:nvSpPr>
        <p:spPr>
          <a:xfrm>
            <a:off x="5852160" y="4480560"/>
            <a:ext cx="82296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2D3EE"/>
                </a:solidFill>
                <a:latin typeface="Unbounded"/>
              </a:rPr>
              <a:t>04</a:t>
            </a:r>
          </a:p>
        </p:txBody>
      </p:sp>
      <p:sp>
        <p:nvSpPr>
          <p:cNvPr id="17" name="item3">
            <a:hlinkClick action="ppaction://hlinksldjump" r:id="rId6"/>
          </p:cNvPr>
          <p:cNvSpPr txBox="1"/>
          <p:nvPr/>
        </p:nvSpPr>
        <p:spPr>
          <a:xfrm>
            <a:off x="6720840" y="4480560"/>
            <a:ext cx="475488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4F5FF"/>
                </a:solidFill>
                <a:latin typeface="Unbounded"/>
              </a:rPr>
              <a:t>Get started</a:t>
            </a:r>
            <a:r>
              <a:rPr sz="2400">
                <a:solidFill>
                  <a:srgbClr val="22D3EE"/>
                </a:solidFill>
                <a:latin typeface="Unbounded"/>
              </a:rPr>
              <a:t>  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5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05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4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624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4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784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4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944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4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38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4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-2286000" y="-1828800"/>
            <a:ext cx="8686800" cy="86868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5C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3600000">
            <a:off x="822960" y="1143000"/>
            <a:ext cx="4572000" cy="457200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4937760" y="123444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6035040" y="3886200"/>
            <a:ext cx="109728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2120295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umber"/>
          <p:cNvSpPr txBox="1"/>
          <p:nvPr/>
        </p:nvSpPr>
        <p:spPr>
          <a:xfrm>
            <a:off x="822960" y="1143000"/>
            <a:ext cx="4572000" cy="457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0" b="1">
                <a:solidFill>
                  <a:srgbClr val="7C5CFF"/>
                </a:solidFill>
                <a:latin typeface="Unbounded"/>
              </a:rPr>
              <a:t>01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6035040" y="1188720"/>
            <a:ext cx="5486400" cy="25603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5000" b="1">
                <a:solidFill>
                  <a:srgbClr val="F4F5FF"/>
                </a:solidFill>
                <a:latin typeface="Unbounded"/>
              </a:rPr>
              <a:t>The idea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6035040" y="420624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AA0C3"/>
                </a:solidFill>
                <a:latin typeface="Unbounded"/>
              </a:rPr>
              <a:t>Why build another slide tool?</a:t>
            </a:r>
          </a:p>
        </p:txBody>
      </p:sp>
      <p:sp>
        <p:nvSpPr>
          <p:cNvPr id="12" name="back">
            <a:hlinkClick action="ppaction://hlinksldjump" r:id="rId2"/>
          </p:cNvPr>
          <p:cNvSpPr txBox="1"/>
          <p:nvPr/>
        </p:nvSpPr>
        <p:spPr>
          <a:xfrm>
            <a:off x="9814255" y="36576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0C3"/>
                </a:solidFill>
                <a:latin typeface="Unbounded"/>
              </a:rPr>
              <a:t>← The tour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05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3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22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24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6949440" y="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2743200" y="420624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5C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2000000">
            <a:off x="7909560" y="1051560"/>
            <a:ext cx="3931920" cy="393192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1201400" y="109728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4800600"/>
            <a:ext cx="82296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2650369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mark"/>
          <p:cNvSpPr txBox="1"/>
          <p:nvPr/>
        </p:nvSpPr>
        <p:spPr>
          <a:xfrm>
            <a:off x="685800" y="320040"/>
            <a:ext cx="182880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7C5CFF"/>
                </a:solidFill>
                <a:latin typeface="Unbounded"/>
              </a:rPr>
              <a:t>“</a:t>
            </a:r>
          </a:p>
        </p:txBody>
      </p:sp>
      <p:sp>
        <p:nvSpPr>
          <p:cNvPr id="10" name="quote"/>
          <p:cNvSpPr txBox="1"/>
          <p:nvPr/>
        </p:nvSpPr>
        <p:spPr>
          <a:xfrm>
            <a:off x="822960" y="1508760"/>
            <a:ext cx="6766560" cy="31546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3800" b="1">
                <a:solidFill>
                  <a:srgbClr val="F4F5FF"/>
                </a:solidFill>
                <a:latin typeface="Unbounded"/>
              </a:rPr>
              <a:t>I want a proper fluid PPT that looks like a movie of sorts.</a:t>
            </a:r>
          </a:p>
        </p:txBody>
      </p:sp>
      <p:sp>
        <p:nvSpPr>
          <p:cNvPr id="11" name="author"/>
          <p:cNvSpPr txBox="1"/>
          <p:nvPr/>
        </p:nvSpPr>
        <p:spPr>
          <a:xfrm>
            <a:off x="822960" y="5074920"/>
            <a:ext cx="67665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4F5FF"/>
                </a:solidFill>
                <a:latin typeface="Unbounded"/>
              </a:rPr>
              <a:t>The original brief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9AA0C3"/>
                </a:solidFill>
                <a:latin typeface="Unbounded"/>
              </a:rPr>
              <a:t>The request that started it all</a:t>
            </a:r>
          </a:p>
        </p:txBody>
      </p:sp>
      <p:pic>
        <p:nvPicPr>
          <p:cNvPr id="12" name="photo" descr="ai-vintage-film-projector-casting-a-4a79002b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229600" y="1371600"/>
            <a:ext cx="3291840" cy="329184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4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4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wd">
                                    <p:tmPct val="12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81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4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1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81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81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24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26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3291840" y="-411480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3291840" y="457200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6067044" y="1874520"/>
            <a:ext cx="54864" cy="4297680"/>
          </a:xfrm>
          <a:prstGeom prst="rect">
            <a:avLst/>
          </a:prstGeom>
          <a:solidFill>
            <a:srgbClr val="7C5C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20400000">
            <a:off x="5458968" y="3081528"/>
            <a:ext cx="1280160" cy="128016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5916168" y="3538728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1691640"/>
            <a:ext cx="91440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3180442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502920"/>
            <a:ext cx="10515600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4F5FF"/>
                </a:solidFill>
                <a:latin typeface="Unbounded"/>
              </a:rPr>
              <a:t>Basic deck vs morphdeck</a:t>
            </a:r>
          </a:p>
        </p:txBody>
      </p:sp>
      <p:sp>
        <p:nvSpPr>
          <p:cNvPr id="10" name="left"/>
          <p:cNvSpPr/>
          <p:nvPr/>
        </p:nvSpPr>
        <p:spPr>
          <a:xfrm>
            <a:off x="822960" y="1965960"/>
            <a:ext cx="4846320" cy="4114800"/>
          </a:xfrm>
          <a:prstGeom prst="roundRect">
            <a:avLst>
              <a:gd name="adj" fmla="val 5555"/>
            </a:avLst>
          </a:prstGeom>
          <a:solidFill>
            <a:srgbClr val="15172E"/>
          </a:solidFill>
          <a:ln>
            <a:noFill/>
          </a:ln>
        </p:spPr>
        <p:txBody>
          <a:bodyPr rtlCol="0" anchor="t" wrap="square" lIns="365760" rIns="365760" tIns="365760" bIns="36576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400" b="1" spc="300">
                <a:solidFill>
                  <a:srgbClr val="7C5CFF"/>
                </a:solidFill>
                <a:latin typeface="Unbounded"/>
              </a:rPr>
              <a:t>BASIC DECK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F4F5FF"/>
                </a:solidFill>
                <a:latin typeface="Unbounded"/>
              </a:rPr>
              <a:t>—  Static shapes and bullet walls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F4F5FF"/>
                </a:solidFill>
                <a:latin typeface="Unbounded"/>
              </a:rPr>
              <a:t>—  Click, appear, click, appear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F4F5FF"/>
                </a:solidFill>
                <a:latin typeface="Unbounded"/>
              </a:rPr>
              <a:t>—  Same template for every topic</a:t>
            </a:r>
          </a:p>
        </p:txBody>
      </p:sp>
      <p:sp>
        <p:nvSpPr>
          <p:cNvPr id="11" name="right"/>
          <p:cNvSpPr/>
          <p:nvPr/>
        </p:nvSpPr>
        <p:spPr>
          <a:xfrm>
            <a:off x="6537960" y="1965960"/>
            <a:ext cx="4846320" cy="4114800"/>
          </a:xfrm>
          <a:prstGeom prst="roundRect">
            <a:avLst>
              <a:gd name="adj" fmla="val 5555"/>
            </a:avLst>
          </a:prstGeom>
          <a:solidFill>
            <a:srgbClr val="15172E"/>
          </a:solidFill>
          <a:ln>
            <a:noFill/>
          </a:ln>
        </p:spPr>
        <p:txBody>
          <a:bodyPr rtlCol="0" anchor="t" wrap="square" lIns="365760" rIns="365760" tIns="365760" bIns="36576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400" b="1" spc="300">
                <a:solidFill>
                  <a:srgbClr val="22D3EE"/>
                </a:solidFill>
                <a:latin typeface="Unbounded"/>
              </a:rPr>
              <a:t>MORPHDECK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F4F5FF"/>
                </a:solidFill>
                <a:latin typeface="Unbounded"/>
              </a:rPr>
              <a:t>—  Shapes glide between slides with Morph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F4F5FF"/>
                </a:solidFill>
                <a:latin typeface="Unbounded"/>
              </a:rPr>
              <a:t>—  Content builds itself, no extra clicks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F4F5FF"/>
                </a:solidFill>
                <a:latin typeface="Unbounded"/>
              </a:rPr>
              <a:t>—  Theme and motion matched to the topic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3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3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18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2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6583680" y="-18288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2743200" y="393192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5C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7200000">
            <a:off x="6995160" y="960120"/>
            <a:ext cx="4754880" cy="475488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1475720" y="548640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1783080"/>
            <a:ext cx="91440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3710516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548640"/>
            <a:ext cx="5760720" cy="11430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4F5FF"/>
                </a:solidFill>
                <a:latin typeface="Unbounded"/>
              </a:rPr>
              <a:t>How it works</a:t>
            </a:r>
          </a:p>
        </p:txBody>
      </p:sp>
      <p:sp>
        <p:nvSpPr>
          <p:cNvPr id="10" name="node0"/>
          <p:cNvSpPr/>
          <p:nvPr/>
        </p:nvSpPr>
        <p:spPr>
          <a:xfrm>
            <a:off x="9089136" y="676656"/>
            <a:ext cx="566928" cy="566928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A0B1A"/>
                </a:solidFill>
                <a:latin typeface="Unbounded"/>
              </a:rPr>
              <a:t>1</a:t>
            </a:r>
          </a:p>
        </p:txBody>
      </p:sp>
      <p:sp>
        <p:nvSpPr>
          <p:cNvPr id="11" name="step0"/>
          <p:cNvSpPr txBox="1"/>
          <p:nvPr/>
        </p:nvSpPr>
        <p:spPr>
          <a:xfrm>
            <a:off x="822960" y="2148840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7C5CFF"/>
                </a:solidFill>
                <a:latin typeface="Unbounded"/>
              </a:rPr>
              <a:t>01  Brief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F4F5FF"/>
                </a:solidFill>
                <a:latin typeface="Unbounded"/>
              </a:rPr>
              <a:t>You give a topic, a short brief and any options.</a:t>
            </a:r>
          </a:p>
        </p:txBody>
      </p:sp>
      <p:sp>
        <p:nvSpPr>
          <p:cNvPr id="12" name="node1"/>
          <p:cNvSpPr/>
          <p:nvPr/>
        </p:nvSpPr>
        <p:spPr>
          <a:xfrm>
            <a:off x="11350216" y="2319427"/>
            <a:ext cx="566928" cy="5669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A0B1A"/>
                </a:solidFill>
                <a:latin typeface="Unbounded"/>
              </a:rPr>
              <a:t>2</a:t>
            </a:r>
          </a:p>
        </p:txBody>
      </p:sp>
      <p:sp>
        <p:nvSpPr>
          <p:cNvPr id="13" name="step1"/>
          <p:cNvSpPr txBox="1"/>
          <p:nvPr/>
        </p:nvSpPr>
        <p:spPr>
          <a:xfrm>
            <a:off x="822960" y="2971800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22D3EE"/>
                </a:solidFill>
                <a:latin typeface="Unbounded"/>
              </a:rPr>
              <a:t>02  Story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F4F5FF"/>
                </a:solidFill>
                <a:latin typeface="Unbounded"/>
              </a:rPr>
              <a:t>Claude writes the storyline and speaker notes.</a:t>
            </a:r>
          </a:p>
        </p:txBody>
      </p:sp>
      <p:sp>
        <p:nvSpPr>
          <p:cNvPr id="14" name="node2"/>
          <p:cNvSpPr/>
          <p:nvPr/>
        </p:nvSpPr>
        <p:spPr>
          <a:xfrm>
            <a:off x="10486560" y="4977485"/>
            <a:ext cx="566928" cy="566928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A0B1A"/>
                </a:solidFill>
                <a:latin typeface="Unbounded"/>
              </a:rPr>
              <a:t>3</a:t>
            </a:r>
          </a:p>
        </p:txBody>
      </p:sp>
      <p:sp>
        <p:nvSpPr>
          <p:cNvPr id="15" name="step2"/>
          <p:cNvSpPr txBox="1"/>
          <p:nvPr/>
        </p:nvSpPr>
        <p:spPr>
          <a:xfrm>
            <a:off x="822960" y="3794760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7C5CFF"/>
                </a:solidFill>
                <a:latin typeface="Unbounded"/>
              </a:rPr>
              <a:t>03  Design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F4F5FF"/>
                </a:solidFill>
                <a:latin typeface="Unbounded"/>
              </a:rPr>
              <a:t>It picks a theme, layouts and images.</a:t>
            </a:r>
          </a:p>
        </p:txBody>
      </p:sp>
      <p:sp>
        <p:nvSpPr>
          <p:cNvPr id="16" name="node3"/>
          <p:cNvSpPr/>
          <p:nvPr/>
        </p:nvSpPr>
        <p:spPr>
          <a:xfrm>
            <a:off x="7691712" y="4977485"/>
            <a:ext cx="566928" cy="5669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A0B1A"/>
                </a:solidFill>
                <a:latin typeface="Unbounded"/>
              </a:rPr>
              <a:t>4</a:t>
            </a:r>
          </a:p>
        </p:txBody>
      </p:sp>
      <p:sp>
        <p:nvSpPr>
          <p:cNvPr id="17" name="step3"/>
          <p:cNvSpPr txBox="1"/>
          <p:nvPr/>
        </p:nvSpPr>
        <p:spPr>
          <a:xfrm>
            <a:off x="822960" y="4617720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22D3EE"/>
                </a:solidFill>
                <a:latin typeface="Unbounded"/>
              </a:rPr>
              <a:t>04  Build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F4F5FF"/>
                </a:solidFill>
                <a:latin typeface="Unbounded"/>
              </a:rPr>
              <a:t>A script writes a native .pptx with Morph and animations.</a:t>
            </a:r>
          </a:p>
        </p:txBody>
      </p:sp>
      <p:sp>
        <p:nvSpPr>
          <p:cNvPr id="18" name="node4"/>
          <p:cNvSpPr/>
          <p:nvPr/>
        </p:nvSpPr>
        <p:spPr>
          <a:xfrm>
            <a:off x="6828056" y="2319427"/>
            <a:ext cx="566928" cy="566928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A0B1A"/>
                </a:solidFill>
                <a:latin typeface="Unbounded"/>
              </a:rPr>
              <a:t>5</a:t>
            </a:r>
          </a:p>
        </p:txBody>
      </p:sp>
      <p:sp>
        <p:nvSpPr>
          <p:cNvPr id="19" name="step4"/>
          <p:cNvSpPr txBox="1"/>
          <p:nvPr/>
        </p:nvSpPr>
        <p:spPr>
          <a:xfrm>
            <a:off x="822960" y="5440680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7C5CFF"/>
                </a:solidFill>
                <a:latin typeface="Unbounded"/>
              </a:rPr>
              <a:t>05  Check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F4F5FF"/>
                </a:solidFill>
                <a:latin typeface="Unbounded"/>
              </a:rPr>
              <a:t>PowerPoint renders previews; Claude fixes what overflows.</a:t>
            </a:r>
          </a:p>
        </p:txBody>
      </p:sp>
      <p:sp>
        <p:nvSpPr>
          <p:cNvPr id="20" name="center"/>
          <p:cNvSpPr txBox="1"/>
          <p:nvPr/>
        </p:nvSpPr>
        <p:spPr>
          <a:xfrm>
            <a:off x="7898587" y="2386584"/>
            <a:ext cx="2948026" cy="19019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2400" b="1">
                <a:solidFill>
                  <a:srgbClr val="F4F5FF"/>
                </a:solidFill>
                <a:latin typeface="Unbounded"/>
              </a:rPr>
              <a:t>One prompt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05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5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4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664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5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05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5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744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4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928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5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05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05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008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4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1192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5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05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5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272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4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456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5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05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05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536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4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3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58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6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-2286000" y="-1828800"/>
            <a:ext cx="8686800" cy="86868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5C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7820000">
            <a:off x="822960" y="1143000"/>
            <a:ext cx="4572000" cy="457200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4937760" y="123444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6035040" y="3886200"/>
            <a:ext cx="109728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4240590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umber"/>
          <p:cNvSpPr txBox="1"/>
          <p:nvPr/>
        </p:nvSpPr>
        <p:spPr>
          <a:xfrm>
            <a:off x="822960" y="1143000"/>
            <a:ext cx="4572000" cy="457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0" b="1">
                <a:solidFill>
                  <a:srgbClr val="7C5CFF"/>
                </a:solidFill>
                <a:latin typeface="Unbounded"/>
              </a:rPr>
              <a:t>02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6035040" y="1188720"/>
            <a:ext cx="5486400" cy="25603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5000" b="1">
                <a:solidFill>
                  <a:srgbClr val="F4F5FF"/>
                </a:solidFill>
                <a:latin typeface="Unbounded"/>
              </a:rPr>
              <a:t>What it can do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6035040" y="420624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AA0C3"/>
                </a:solidFill>
                <a:latin typeface="Unbounded"/>
              </a:rPr>
              <a:t>Motion, data and images, all native PowerPoint.</a:t>
            </a:r>
          </a:p>
        </p:txBody>
      </p:sp>
      <p:sp>
        <p:nvSpPr>
          <p:cNvPr id="12" name="back">
            <a:hlinkClick action="ppaction://hlinksldjump" r:id="rId2"/>
          </p:cNvPr>
          <p:cNvSpPr txBox="1"/>
          <p:nvPr/>
        </p:nvSpPr>
        <p:spPr>
          <a:xfrm>
            <a:off x="9814255" y="36576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0C3"/>
                </a:solidFill>
                <a:latin typeface="Unbounded"/>
              </a:rPr>
              <a:t>← The tour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05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3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22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24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3657600" y="-914400"/>
            <a:ext cx="8229600" cy="82296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2400000">
            <a:off x="914400" y="457200"/>
            <a:ext cx="5943600" cy="594360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0972800" y="5943600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4206240"/>
            <a:ext cx="91440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4770663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image" descr="ai-abstract-glowing-violet-and-cyan-a37754f1.jpg"/>
          <p:cNvPicPr>
            <a:picLocks noChangeAspect="1"/>
          </p:cNvPicPr>
          <p:nvPr/>
        </p:nvPicPr>
        <p:blipFill>
          <a:blip r:embed="rId2"/>
          <a:srcRect t="21874" b="2187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" name="scrim"/>
          <p:cNvSpPr/>
          <p:nvPr/>
        </p:nvSpPr>
        <p:spPr>
          <a:xfrm>
            <a:off x="0" y="0"/>
            <a:ext cx="8686800" cy="6858000"/>
          </a:xfrm>
          <a:prstGeom prst="rect">
            <a:avLst/>
          </a:prstGeom>
          <a:gradFill rotWithShape="1">
            <a:gsLst>
              <a:gs pos="0">
                <a:srgbClr val="0A0B1A">
                  <a:alpha val="92000"/>
                </a:srgbClr>
              </a:gs>
              <a:gs pos="55000">
                <a:srgbClr val="0A0B1A">
                  <a:alpha val="50600"/>
                </a:srgbClr>
              </a:gs>
              <a:gs pos="100000">
                <a:srgbClr val="0A0B1A">
                  <a:alpha val="1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ccent"/>
          <p:cNvSpPr/>
          <p:nvPr/>
        </p:nvSpPr>
        <p:spPr>
          <a:xfrm>
            <a:off x="822960" y="4206240"/>
            <a:ext cx="91440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 txBox="1"/>
          <p:nvPr/>
        </p:nvSpPr>
        <p:spPr>
          <a:xfrm>
            <a:off x="822960" y="20574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400">
                <a:solidFill>
                  <a:srgbClr val="7C5CFF"/>
                </a:solidFill>
                <a:latin typeface="Unbounded"/>
              </a:rPr>
              <a:t>MOTION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822960" y="2423160"/>
            <a:ext cx="6217920" cy="16459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400" b="1">
                <a:solidFill>
                  <a:srgbClr val="F4F5FF"/>
                </a:solidFill>
                <a:latin typeface="Unbounded"/>
              </a:rPr>
              <a:t>One continuous shot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822960" y="4526280"/>
            <a:ext cx="548640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4F5FF"/>
                </a:solidFill>
                <a:latin typeface="Unbounded"/>
              </a:rPr>
              <a:t>A shared stage of glows, rings and panels morphs from slide to slide.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10000" fill="hold"/>
                                        <p:tgtEl>
                                          <p:spTgt spid="9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32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5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05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3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25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27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-3200400" y="-4114800"/>
            <a:ext cx="7315200" cy="73152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8778240" y="3566160"/>
            <a:ext cx="5303520" cy="530352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5C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0800000">
            <a:off x="10241280" y="-1280160"/>
            <a:ext cx="3108960" cy="310896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566928" y="3776472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3877056"/>
            <a:ext cx="10607040" cy="4572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5300737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502920"/>
            <a:ext cx="10515600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4F5FF"/>
                </a:solidFill>
                <a:latin typeface="Unbounded"/>
              </a:rPr>
              <a:t>Anatomy of one slide</a:t>
            </a:r>
          </a:p>
        </p:txBody>
      </p:sp>
      <p:sp>
        <p:nvSpPr>
          <p:cNvPr id="10" name="node0"/>
          <p:cNvSpPr/>
          <p:nvPr/>
        </p:nvSpPr>
        <p:spPr>
          <a:xfrm>
            <a:off x="914400" y="3762756"/>
            <a:ext cx="274320" cy="274320"/>
          </a:xfrm>
          <a:prstGeom prst="ellipse">
            <a:avLst/>
          </a:prstGeom>
          <a:solidFill>
            <a:srgbClr val="0A0B1A"/>
          </a:solidFill>
          <a:ln w="28575">
            <a:solidFill>
              <a:srgbClr val="7C5C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abel0"/>
          <p:cNvSpPr txBox="1"/>
          <p:nvPr/>
        </p:nvSpPr>
        <p:spPr>
          <a:xfrm>
            <a:off x="914400" y="2606040"/>
            <a:ext cx="2377440" cy="9144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7C5CFF"/>
                </a:solidFill>
                <a:latin typeface="Unbounded"/>
              </a:rPr>
              <a:t>Morph</a:t>
            </a:r>
          </a:p>
        </p:txBody>
      </p:sp>
      <p:sp>
        <p:nvSpPr>
          <p:cNvPr id="12" name="step0"/>
          <p:cNvSpPr txBox="1"/>
          <p:nvPr/>
        </p:nvSpPr>
        <p:spPr>
          <a:xfrm>
            <a:off x="914400" y="4343400"/>
            <a:ext cx="23774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4F5FF"/>
                </a:solidFill>
                <a:latin typeface="Unbounded"/>
              </a:rPr>
              <a:t>The stage glides into its new pose.</a:t>
            </a:r>
          </a:p>
        </p:txBody>
      </p:sp>
      <p:sp>
        <p:nvSpPr>
          <p:cNvPr id="13" name="node1"/>
          <p:cNvSpPr/>
          <p:nvPr/>
        </p:nvSpPr>
        <p:spPr>
          <a:xfrm>
            <a:off x="3566160" y="3762756"/>
            <a:ext cx="274320" cy="274320"/>
          </a:xfrm>
          <a:prstGeom prst="ellipse">
            <a:avLst/>
          </a:prstGeom>
          <a:solidFill>
            <a:srgbClr val="0A0B1A"/>
          </a:solidFill>
          <a:ln w="28575">
            <a:solidFill>
              <a:srgbClr val="7C5C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abel1"/>
          <p:cNvSpPr txBox="1"/>
          <p:nvPr/>
        </p:nvSpPr>
        <p:spPr>
          <a:xfrm>
            <a:off x="3566160" y="2606040"/>
            <a:ext cx="2377440" cy="9144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2D3EE"/>
                </a:solidFill>
                <a:latin typeface="Unbounded"/>
              </a:rPr>
              <a:t>Title</a:t>
            </a:r>
          </a:p>
        </p:txBody>
      </p:sp>
      <p:sp>
        <p:nvSpPr>
          <p:cNvPr id="15" name="step1"/>
          <p:cNvSpPr txBox="1"/>
          <p:nvPr/>
        </p:nvSpPr>
        <p:spPr>
          <a:xfrm>
            <a:off x="3566160" y="4343400"/>
            <a:ext cx="23774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4F5FF"/>
                </a:solidFill>
                <a:latin typeface="Unbounded"/>
              </a:rPr>
              <a:t>The headline builds letter by letter.</a:t>
            </a:r>
          </a:p>
        </p:txBody>
      </p:sp>
      <p:sp>
        <p:nvSpPr>
          <p:cNvPr id="16" name="node2"/>
          <p:cNvSpPr/>
          <p:nvPr/>
        </p:nvSpPr>
        <p:spPr>
          <a:xfrm>
            <a:off x="6217920" y="3762756"/>
            <a:ext cx="274320" cy="274320"/>
          </a:xfrm>
          <a:prstGeom prst="ellipse">
            <a:avLst/>
          </a:prstGeom>
          <a:solidFill>
            <a:srgbClr val="0A0B1A"/>
          </a:solidFill>
          <a:ln w="28575">
            <a:solidFill>
              <a:srgbClr val="7C5C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abel2"/>
          <p:cNvSpPr txBox="1"/>
          <p:nvPr/>
        </p:nvSpPr>
        <p:spPr>
          <a:xfrm>
            <a:off x="6217920" y="2606040"/>
            <a:ext cx="2377440" cy="9144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7C5CFF"/>
                </a:solidFill>
                <a:latin typeface="Unbounded"/>
              </a:rPr>
              <a:t>Content</a:t>
            </a:r>
          </a:p>
        </p:txBody>
      </p:sp>
      <p:sp>
        <p:nvSpPr>
          <p:cNvPr id="18" name="step2"/>
          <p:cNvSpPr txBox="1"/>
          <p:nvPr/>
        </p:nvSpPr>
        <p:spPr>
          <a:xfrm>
            <a:off x="6217920" y="4343400"/>
            <a:ext cx="23774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4F5FF"/>
                </a:solidFill>
                <a:latin typeface="Unbounded"/>
              </a:rPr>
              <a:t>Points, cards and charts rise in turn.</a:t>
            </a:r>
          </a:p>
        </p:txBody>
      </p:sp>
      <p:sp>
        <p:nvSpPr>
          <p:cNvPr id="19" name="node3"/>
          <p:cNvSpPr/>
          <p:nvPr/>
        </p:nvSpPr>
        <p:spPr>
          <a:xfrm>
            <a:off x="8869680" y="3762756"/>
            <a:ext cx="274320" cy="274320"/>
          </a:xfrm>
          <a:prstGeom prst="ellipse">
            <a:avLst/>
          </a:prstGeom>
          <a:solidFill>
            <a:srgbClr val="0A0B1A"/>
          </a:solidFill>
          <a:ln w="28575">
            <a:solidFill>
              <a:srgbClr val="7C5C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label3"/>
          <p:cNvSpPr txBox="1"/>
          <p:nvPr/>
        </p:nvSpPr>
        <p:spPr>
          <a:xfrm>
            <a:off x="8869680" y="2606040"/>
            <a:ext cx="2377440" cy="9144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2D3EE"/>
                </a:solidFill>
                <a:latin typeface="Unbounded"/>
              </a:rPr>
              <a:t>Loop</a:t>
            </a:r>
          </a:p>
        </p:txBody>
      </p:sp>
      <p:sp>
        <p:nvSpPr>
          <p:cNvPr id="21" name="step3"/>
          <p:cNvSpPr txBox="1"/>
          <p:nvPr/>
        </p:nvSpPr>
        <p:spPr>
          <a:xfrm>
            <a:off x="8869680" y="4343400"/>
            <a:ext cx="23774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4F5FF"/>
                </a:solidFill>
                <a:latin typeface="Unbounded"/>
              </a:rPr>
              <a:t>A disc floats and the ring sways.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36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6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496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4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704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36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36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4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3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100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36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36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104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4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208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3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312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36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36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4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512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3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58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6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7772400" y="-365760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2286000" y="4023360"/>
            <a:ext cx="5029200" cy="50292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5172E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9200000">
            <a:off x="9966960" y="-1463040"/>
            <a:ext cx="3108960" cy="310896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1201400" y="502920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1691640"/>
            <a:ext cx="91440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5830811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502920"/>
            <a:ext cx="10515600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4F5FF"/>
                </a:solidFill>
                <a:latin typeface="Unbounded"/>
              </a:rPr>
              <a:t>Three layers of motion</a:t>
            </a:r>
          </a:p>
        </p:txBody>
      </p:sp>
      <p:sp>
        <p:nvSpPr>
          <p:cNvPr id="10" name="card0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6859"/>
            </a:avLst>
          </a:prstGeom>
          <a:solidFill>
            <a:srgbClr val="15172E"/>
          </a:solidFill>
          <a:ln w="9525">
            <a:solidFill>
              <a:srgbClr val="7C5CFF">
                <a:alpha val="35000"/>
              </a:srgbClr>
            </a:solidFill>
          </a:ln>
        </p:spPr>
        <p:txBody>
          <a:bodyPr rtlCol="0" anchor="t" wrap="square" lIns="292608" rIns="292608" tIns="292608" bIns="292608">
            <a:no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400" b="1">
                <a:solidFill>
                  <a:srgbClr val="7C5CFF"/>
                </a:solidFill>
                <a:latin typeface="Unbounded"/>
              </a:rPr>
              <a:t>01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F4F5FF"/>
                </a:solidFill>
                <a:latin typeface="Unbounded"/>
              </a:rPr>
              <a:t>Morph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9AA0C3"/>
                </a:solidFill>
                <a:latin typeface="Unbounded"/>
              </a:rPr>
              <a:t>Named stage shapes glide, resize and rotate between every slide.</a:t>
            </a:r>
          </a:p>
        </p:txBody>
      </p:sp>
      <p:sp>
        <p:nvSpPr>
          <p:cNvPr id="11" name="card1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6859"/>
            </a:avLst>
          </a:prstGeom>
          <a:solidFill>
            <a:srgbClr val="15172E"/>
          </a:solidFill>
          <a:ln w="9525">
            <a:solidFill>
              <a:srgbClr val="7C5CFF">
                <a:alpha val="35000"/>
              </a:srgbClr>
            </a:solidFill>
          </a:ln>
        </p:spPr>
        <p:txBody>
          <a:bodyPr rtlCol="0" anchor="t" wrap="square" lIns="292608" rIns="292608" tIns="292608" bIns="292608">
            <a:no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400" b="1">
                <a:solidFill>
                  <a:srgbClr val="7C5CFF"/>
                </a:solidFill>
                <a:latin typeface="Unbounded"/>
              </a:rPr>
              <a:t>02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F4F5FF"/>
                </a:solidFill>
                <a:latin typeface="Unbounded"/>
              </a:rPr>
              <a:t>Entrances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9AA0C3"/>
                </a:solidFill>
                <a:latin typeface="Unbounded"/>
              </a:rPr>
              <a:t>Rise, zoom, wipe, wheel and letter-by-letter builds, staggered automatically.</a:t>
            </a:r>
          </a:p>
        </p:txBody>
      </p:sp>
      <p:sp>
        <p:nvSpPr>
          <p:cNvPr id="12" name="card2"/>
          <p:cNvSpPr/>
          <p:nvPr/>
        </p:nvSpPr>
        <p:spPr>
          <a:xfrm>
            <a:off x="8036357" y="2148840"/>
            <a:ext cx="3332378" cy="3794760"/>
          </a:xfrm>
          <a:prstGeom prst="roundRect">
            <a:avLst>
              <a:gd name="adj" fmla="val 6859"/>
            </a:avLst>
          </a:prstGeom>
          <a:solidFill>
            <a:srgbClr val="15172E"/>
          </a:solidFill>
          <a:ln w="9525">
            <a:solidFill>
              <a:srgbClr val="7C5CFF">
                <a:alpha val="35000"/>
              </a:srgbClr>
            </a:solidFill>
          </a:ln>
        </p:spPr>
        <p:txBody>
          <a:bodyPr rtlCol="0" anchor="t" wrap="square" lIns="292608" rIns="292608" tIns="292608" bIns="292608">
            <a:no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400" b="1">
                <a:solidFill>
                  <a:srgbClr val="7C5CFF"/>
                </a:solidFill>
                <a:latin typeface="Unbounded"/>
              </a:rPr>
              <a:t>03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F4F5FF"/>
                </a:solidFill>
                <a:latin typeface="Unbounded"/>
              </a:rPr>
              <a:t>Ambient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9AA0C3"/>
                </a:solidFill>
                <a:latin typeface="Unbounded"/>
              </a:rPr>
              <a:t>Floating, swaying and slow Ken Burns zooms keep each slide alive.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3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3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3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22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24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7498080" y="109728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2743200" y="-3200400"/>
            <a:ext cx="5029200" cy="50292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8641080" y="1828800"/>
            <a:ext cx="2743200" cy="4343400"/>
          </a:xfrm>
          <a:prstGeom prst="rect">
            <a:avLst/>
          </a:prstGeom>
          <a:solidFill>
            <a:srgbClr val="1517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6000000">
            <a:off x="9235440" y="-1097280"/>
            <a:ext cx="2926080" cy="292608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1338560" y="5760720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1600200"/>
            <a:ext cx="91440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6360884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502920"/>
            <a:ext cx="7498080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4F5FF"/>
                </a:solidFill>
                <a:latin typeface="Unbounded"/>
              </a:rPr>
              <a:t>Layouts available</a:t>
            </a:r>
          </a:p>
        </p:txBody>
      </p:sp>
      <p:graphicFrame>
        <p:nvGraphicFramePr>
          <p:cNvPr id="10" name="chart"/>
          <p:cNvGraphicFramePr>
            <a:graphicFrameLocks noGrp="1"/>
          </p:cNvGraphicFramePr>
          <p:nvPr/>
        </p:nvGraphicFramePr>
        <p:xfrm>
          <a:off x="685800" y="1828800"/>
          <a:ext cx="768096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akeaway"/>
          <p:cNvSpPr txBox="1"/>
          <p:nvPr/>
        </p:nvSpPr>
        <p:spPr>
          <a:xfrm>
            <a:off x="8915400" y="2194560"/>
            <a:ext cx="2194560" cy="2194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F4F5FF"/>
                </a:solidFill>
                <a:latin typeface="Unbounded"/>
              </a:rPr>
              <a:t>19 layouts</a:t>
            </a:r>
          </a:p>
        </p:txBody>
      </p:sp>
      <p:sp>
        <p:nvSpPr>
          <p:cNvPr id="12" name="caption"/>
          <p:cNvSpPr txBox="1"/>
          <p:nvPr/>
        </p:nvSpPr>
        <p:spPr>
          <a:xfrm>
            <a:off x="8915400" y="452628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0C3"/>
                </a:solidFill>
                <a:latin typeface="Unbounded"/>
              </a:rPr>
              <a:t>Native, editable PowerPoint charts like this one.</a:t>
            </a:r>
          </a:p>
        </p:txBody>
      </p:sp>
      <p:sp>
        <p:nvSpPr>
          <p:cNvPr id="13" name="source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0C3"/>
                </a:solidFill>
                <a:latin typeface="Unbounded"/>
              </a:rPr>
              <a:t>Source: morphdeck release history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3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3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24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26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Graphic spid="10" grpId="0">
        <p:bldAsOne/>
      </p:bldGraphic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8229600" y="-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5172E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4400000">
            <a:off x="-1097280" y="-1463040"/>
            <a:ext cx="2926080" cy="292608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1338560" y="594360"/>
            <a:ext cx="320040" cy="3200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1600200"/>
            <a:ext cx="91440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6890958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502920"/>
            <a:ext cx="10515600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4F5FF"/>
                </a:solidFill>
                <a:latin typeface="Unbounded"/>
              </a:rPr>
              <a:t>Images on demand</a:t>
            </a:r>
          </a:p>
        </p:txBody>
      </p:sp>
      <p:pic>
        <p:nvPicPr>
          <p:cNvPr id="10" name="img0" descr="ai-futuristic-city-skyline-at-dusk--fd5344b2.jpg"/>
          <p:cNvPicPr>
            <a:picLocks noChangeAspect="1"/>
          </p:cNvPicPr>
          <p:nvPr/>
        </p:nvPicPr>
        <p:blipFill>
          <a:blip r:embed="rId2"/>
          <a:srcRect l="3278" r="3278"/>
          <a:stretch>
            <a:fillRect/>
          </a:stretch>
        </p:blipFill>
        <p:spPr>
          <a:xfrm>
            <a:off x="822960" y="2011680"/>
            <a:ext cx="3332378" cy="3566160"/>
          </a:xfrm>
          <a:prstGeom prst="roundRect">
            <a:avLst>
              <a:gd name="adj" fmla="val 3429"/>
            </a:avLst>
          </a:prstGeom>
        </p:spPr>
      </p:pic>
      <p:sp>
        <p:nvSpPr>
          <p:cNvPr id="11" name="cap0"/>
          <p:cNvSpPr txBox="1"/>
          <p:nvPr/>
        </p:nvSpPr>
        <p:spPr>
          <a:xfrm>
            <a:off x="822960" y="5742432"/>
            <a:ext cx="333237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0C3"/>
                </a:solidFill>
                <a:latin typeface="Unbounded"/>
              </a:rPr>
              <a:t>AI · Cloudflare FLUX</a:t>
            </a:r>
          </a:p>
        </p:txBody>
      </p:sp>
      <p:pic>
        <p:nvPicPr>
          <p:cNvPr id="12" name="img1" descr="ai-astronaut-floating-above-a-viole-2949a556.jpg"/>
          <p:cNvPicPr>
            <a:picLocks noChangeAspect="1"/>
          </p:cNvPicPr>
          <p:nvPr/>
        </p:nvPicPr>
        <p:blipFill>
          <a:blip r:embed="rId3"/>
          <a:srcRect l="3278" r="3278"/>
          <a:stretch>
            <a:fillRect/>
          </a:stretch>
        </p:blipFill>
        <p:spPr>
          <a:xfrm>
            <a:off x="4429658" y="2011680"/>
            <a:ext cx="3332378" cy="3566160"/>
          </a:xfrm>
          <a:prstGeom prst="roundRect">
            <a:avLst>
              <a:gd name="adj" fmla="val 3429"/>
            </a:avLst>
          </a:prstGeom>
        </p:spPr>
      </p:pic>
      <p:sp>
        <p:nvSpPr>
          <p:cNvPr id="13" name="cap1"/>
          <p:cNvSpPr txBox="1"/>
          <p:nvPr/>
        </p:nvSpPr>
        <p:spPr>
          <a:xfrm>
            <a:off x="4429658" y="5742432"/>
            <a:ext cx="333237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0C3"/>
                </a:solidFill>
                <a:latin typeface="Unbounded"/>
              </a:rPr>
              <a:t>AI · Cloudflare FLUX</a:t>
            </a:r>
          </a:p>
        </p:txBody>
      </p:sp>
      <p:pic>
        <p:nvPicPr>
          <p:cNvPr id="14" name="img2" descr="stock-aurora-borealis-night-sky-tall.jpg"/>
          <p:cNvPicPr>
            <a:picLocks noChangeAspect="1"/>
          </p:cNvPicPr>
          <p:nvPr/>
        </p:nvPicPr>
        <p:blipFill>
          <a:blip r:embed="rId4"/>
          <a:srcRect t="7152" b="7152"/>
          <a:stretch>
            <a:fillRect/>
          </a:stretch>
        </p:blipFill>
        <p:spPr>
          <a:xfrm>
            <a:off x="8036357" y="2011680"/>
            <a:ext cx="3332378" cy="3566160"/>
          </a:xfrm>
          <a:prstGeom prst="roundRect">
            <a:avLst>
              <a:gd name="adj" fmla="val 3429"/>
            </a:avLst>
          </a:prstGeom>
        </p:spPr>
      </p:pic>
      <p:sp>
        <p:nvSpPr>
          <p:cNvPr id="15" name="cap2"/>
          <p:cNvSpPr txBox="1"/>
          <p:nvPr/>
        </p:nvSpPr>
        <p:spPr>
          <a:xfrm>
            <a:off x="8036357" y="5742432"/>
            <a:ext cx="333237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0C3"/>
                </a:solidFill>
                <a:latin typeface="Unbounded"/>
              </a:rPr>
              <a:t>Stock · Openverse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72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2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576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2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2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816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752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72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2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992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34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36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7498080" y="109728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2743200" y="-3200400"/>
            <a:ext cx="5029200" cy="50292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8641080" y="1828800"/>
            <a:ext cx="2743200" cy="4343400"/>
          </a:xfrm>
          <a:prstGeom prst="rect">
            <a:avLst/>
          </a:prstGeom>
          <a:solidFill>
            <a:srgbClr val="1517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3420000">
            <a:off x="9235440" y="-1097280"/>
            <a:ext cx="2926080" cy="292608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1338560" y="5760720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1600200"/>
            <a:ext cx="91440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7421032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502920"/>
            <a:ext cx="7498080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4F5FF"/>
                </a:solidFill>
                <a:latin typeface="Unbounded"/>
              </a:rPr>
              <a:t>Layouts used in this deck</a:t>
            </a:r>
          </a:p>
        </p:txBody>
      </p:sp>
      <p:graphicFrame>
        <p:nvGraphicFramePr>
          <p:cNvPr id="10" name="chart"/>
          <p:cNvGraphicFramePr>
            <a:graphicFrameLocks noGrp="1"/>
          </p:cNvGraphicFramePr>
          <p:nvPr/>
        </p:nvGraphicFramePr>
        <p:xfrm>
          <a:off x="685800" y="1828800"/>
          <a:ext cx="768096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akeaway"/>
          <p:cNvSpPr txBox="1"/>
          <p:nvPr/>
        </p:nvSpPr>
        <p:spPr>
          <a:xfrm>
            <a:off x="8915400" y="2194560"/>
            <a:ext cx="2194560" cy="2194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F4F5FF"/>
                </a:solidFill>
                <a:latin typeface="Unbounded"/>
              </a:rPr>
              <a:t>19 of 19</a:t>
            </a:r>
          </a:p>
        </p:txBody>
      </p:sp>
      <p:sp>
        <p:nvSpPr>
          <p:cNvPr id="12" name="caption"/>
          <p:cNvSpPr txBox="1"/>
          <p:nvPr/>
        </p:nvSpPr>
        <p:spPr>
          <a:xfrm>
            <a:off x="8915400" y="452628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0C3"/>
                </a:solidFill>
                <a:latin typeface="Unbounded"/>
              </a:rPr>
              <a:t>All 19 layouts appear in these 23 slides.</a:t>
            </a:r>
          </a:p>
        </p:txBody>
      </p:sp>
      <p:sp>
        <p:nvSpPr>
          <p:cNvPr id="13" name="source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0C3"/>
                </a:solidFill>
                <a:latin typeface="Unbounded"/>
              </a:rPr>
              <a:t>Source: this deck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1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3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3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24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26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Graphic spid="10" grpId="0">
        <p:bldAsOne/>
      </p:bldGraphic>
      <p:bldP spid="11" grpId="0" animBg="1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6217920" y="-548640"/>
            <a:ext cx="7315200" cy="73152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2743200" y="3840480"/>
            <a:ext cx="5029200" cy="50292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5C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9600000">
            <a:off x="7223760" y="868680"/>
            <a:ext cx="5120640" cy="512064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1064240" y="73152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4617720"/>
            <a:ext cx="109728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7951106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value"/>
          <p:cNvSpPr txBox="1"/>
          <p:nvPr/>
        </p:nvSpPr>
        <p:spPr>
          <a:xfrm>
            <a:off x="822960" y="914400"/>
            <a:ext cx="6583680" cy="35661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>
              <a:lnSpc>
                <a:spcPct val="90000"/>
              </a:lnSpc>
            </a:pPr>
            <a:r>
              <a:rPr sz="7400" b="1">
                <a:solidFill>
                  <a:srgbClr val="F4F5FF"/>
                </a:solidFill>
                <a:latin typeface="Unbounded"/>
              </a:rPr>
              <a:t>~170</a:t>
            </a:r>
            <a:r>
              <a:rPr sz="5100" b="1">
                <a:solidFill>
                  <a:srgbClr val="7C5CFF"/>
                </a:solidFill>
                <a:latin typeface="Unbounded"/>
              </a:rPr>
              <a:t>/day</a:t>
            </a:r>
          </a:p>
        </p:txBody>
      </p:sp>
      <p:sp>
        <p:nvSpPr>
          <p:cNvPr id="10" name="label"/>
          <p:cNvSpPr txBox="1"/>
          <p:nvPr/>
        </p:nvSpPr>
        <p:spPr>
          <a:xfrm>
            <a:off x="822960" y="4846320"/>
            <a:ext cx="621792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F4F5FF"/>
                </a:solidFill>
                <a:latin typeface="Unbounded"/>
              </a:rPr>
              <a:t>Free AI images</a:t>
            </a:r>
          </a:p>
        </p:txBody>
      </p:sp>
      <p:sp>
        <p:nvSpPr>
          <p:cNvPr id="11" name="note"/>
          <p:cNvSpPr txBox="1"/>
          <p:nvPr/>
        </p:nvSpPr>
        <p:spPr>
          <a:xfrm>
            <a:off x="822960" y="5532120"/>
            <a:ext cx="621792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9AA0C3"/>
                </a:solidFill>
                <a:latin typeface="Unbounded"/>
              </a:rPr>
              <a:t>Cloudflare Workers AI gives 10,000 free neurons a day; one FLUX.1 schnell image costs about 58.</a:t>
            </a:r>
          </a:p>
        </p:txBody>
      </p:sp>
      <p:sp>
        <p:nvSpPr>
          <p:cNvPr id="12" name="context"/>
          <p:cNvSpPr txBox="1"/>
          <p:nvPr/>
        </p:nvSpPr>
        <p:spPr>
          <a:xfrm>
            <a:off x="8138160" y="2514600"/>
            <a:ext cx="3291840" cy="1828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F4F5FF"/>
                </a:solidFill>
                <a:latin typeface="Unbounded"/>
              </a:rPr>
              <a:t>No credit card needed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2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72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4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21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23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-2286000" y="-1828800"/>
            <a:ext cx="8686800" cy="86868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5C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840000">
            <a:off x="822960" y="1143000"/>
            <a:ext cx="4572000" cy="457200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4937760" y="123444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6035040" y="3886200"/>
            <a:ext cx="109728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8481179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umber"/>
          <p:cNvSpPr txBox="1"/>
          <p:nvPr/>
        </p:nvSpPr>
        <p:spPr>
          <a:xfrm>
            <a:off x="822960" y="1143000"/>
            <a:ext cx="4572000" cy="457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0" b="1">
                <a:solidFill>
                  <a:srgbClr val="7C5CFF"/>
                </a:solidFill>
                <a:latin typeface="Unbounded"/>
              </a:rPr>
              <a:t>03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6035040" y="1188720"/>
            <a:ext cx="5486400" cy="25603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5000" b="1">
                <a:solidFill>
                  <a:srgbClr val="F4F5FF"/>
                </a:solidFill>
                <a:latin typeface="Unbounded"/>
              </a:rPr>
              <a:t>Make it yours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6035040" y="420624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AA0C3"/>
                </a:solidFill>
                <a:latin typeface="Unbounded"/>
              </a:rPr>
              <a:t>Every deck is shaped by a few simple options.</a:t>
            </a:r>
          </a:p>
        </p:txBody>
      </p:sp>
      <p:sp>
        <p:nvSpPr>
          <p:cNvPr id="12" name="back">
            <a:hlinkClick action="ppaction://hlinksldjump" r:id="rId2"/>
          </p:cNvPr>
          <p:cNvSpPr txBox="1"/>
          <p:nvPr/>
        </p:nvSpPr>
        <p:spPr>
          <a:xfrm>
            <a:off x="9814255" y="36576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0C3"/>
                </a:solidFill>
                <a:latin typeface="Unbounded"/>
              </a:rPr>
              <a:t>← The tour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05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3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22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24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8595360" y="-384048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2926080" y="438912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6071616" y="2743200"/>
            <a:ext cx="27432" cy="3520440"/>
          </a:xfrm>
          <a:prstGeom prst="rect">
            <a:avLst/>
          </a:prstGeom>
          <a:solidFill>
            <a:srgbClr val="1517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4800000">
            <a:off x="10698480" y="4846320"/>
            <a:ext cx="2743200" cy="274320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1384280" y="548640"/>
            <a:ext cx="320040" cy="3200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1600200"/>
            <a:ext cx="91440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9011253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502920"/>
            <a:ext cx="10515600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4F5FF"/>
                </a:solidFill>
                <a:latin typeface="Unbounded"/>
              </a:rPr>
              <a:t>Options you can set</a:t>
            </a:r>
          </a:p>
        </p:txBody>
      </p:sp>
      <p:sp>
        <p:nvSpPr>
          <p:cNvPr id="10" name="intro"/>
          <p:cNvSpPr txBox="1"/>
          <p:nvPr/>
        </p:nvSpPr>
        <p:spPr>
          <a:xfrm>
            <a:off x="822960" y="187452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9AA0C3"/>
                </a:solidFill>
                <a:latin typeface="Unbounded"/>
              </a:rPr>
              <a:t>Say them in plain words or as key=value pairs after the topic.</a:t>
            </a:r>
          </a:p>
        </p:txBody>
      </p:sp>
      <p:sp>
        <p:nvSpPr>
          <p:cNvPr id="11" name="mark0"/>
          <p:cNvSpPr/>
          <p:nvPr/>
        </p:nvSpPr>
        <p:spPr>
          <a:xfrm>
            <a:off x="822960" y="2853690"/>
            <a:ext cx="45720" cy="19431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oint0"/>
          <p:cNvSpPr txBox="1"/>
          <p:nvPr/>
        </p:nvSpPr>
        <p:spPr>
          <a:xfrm>
            <a:off x="1051560" y="2788920"/>
            <a:ext cx="4572000" cy="8069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F4F5FF"/>
                </a:solidFill>
                <a:latin typeface="Unbounded"/>
              </a:rPr>
              <a:t>slides: exact slide count</a:t>
            </a:r>
          </a:p>
        </p:txBody>
      </p:sp>
      <p:sp>
        <p:nvSpPr>
          <p:cNvPr id="13" name="mark1"/>
          <p:cNvSpPr/>
          <p:nvPr/>
        </p:nvSpPr>
        <p:spPr>
          <a:xfrm>
            <a:off x="822960" y="3733800"/>
            <a:ext cx="45720" cy="19431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oint1"/>
          <p:cNvSpPr txBox="1"/>
          <p:nvPr/>
        </p:nvSpPr>
        <p:spPr>
          <a:xfrm>
            <a:off x="1051560" y="3669030"/>
            <a:ext cx="4572000" cy="8069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F4F5FF"/>
                </a:solidFill>
                <a:latin typeface="Unbounded"/>
              </a:rPr>
              <a:t>motion: calm, normal or dramatic</a:t>
            </a:r>
          </a:p>
        </p:txBody>
      </p:sp>
      <p:sp>
        <p:nvSpPr>
          <p:cNvPr id="15" name="mark2"/>
          <p:cNvSpPr/>
          <p:nvPr/>
        </p:nvSpPr>
        <p:spPr>
          <a:xfrm>
            <a:off x="822960" y="4613910"/>
            <a:ext cx="45720" cy="19431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oint2"/>
          <p:cNvSpPr txBox="1"/>
          <p:nvPr/>
        </p:nvSpPr>
        <p:spPr>
          <a:xfrm>
            <a:off x="1051560" y="4549140"/>
            <a:ext cx="4572000" cy="8069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F4F5FF"/>
                </a:solidFill>
                <a:latin typeface="Unbounded"/>
              </a:rPr>
              <a:t>density: text-heavy, balanced or image-heavy</a:t>
            </a:r>
          </a:p>
        </p:txBody>
      </p:sp>
      <p:sp>
        <p:nvSpPr>
          <p:cNvPr id="17" name="mark3"/>
          <p:cNvSpPr/>
          <p:nvPr/>
        </p:nvSpPr>
        <p:spPr>
          <a:xfrm>
            <a:off x="822960" y="5494020"/>
            <a:ext cx="45720" cy="19431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oint3"/>
          <p:cNvSpPr txBox="1"/>
          <p:nvPr/>
        </p:nvSpPr>
        <p:spPr>
          <a:xfrm>
            <a:off x="1051560" y="5429250"/>
            <a:ext cx="4572000" cy="8069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F4F5FF"/>
                </a:solidFill>
                <a:latin typeface="Unbounded"/>
              </a:rPr>
              <a:t>theme: six looks matched to the topic</a:t>
            </a:r>
          </a:p>
        </p:txBody>
      </p:sp>
      <p:sp>
        <p:nvSpPr>
          <p:cNvPr id="19" name="mark4"/>
          <p:cNvSpPr/>
          <p:nvPr/>
        </p:nvSpPr>
        <p:spPr>
          <a:xfrm>
            <a:off x="6263640" y="2853690"/>
            <a:ext cx="45720" cy="19431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oint4"/>
          <p:cNvSpPr txBox="1"/>
          <p:nvPr/>
        </p:nvSpPr>
        <p:spPr>
          <a:xfrm>
            <a:off x="6492240" y="2788920"/>
            <a:ext cx="4572000" cy="8069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F4F5FF"/>
                </a:solidFill>
                <a:latin typeface="Unbounded"/>
              </a:rPr>
              <a:t>aspect: 16:9, 16:10 or 4:3</a:t>
            </a:r>
          </a:p>
        </p:txBody>
      </p:sp>
      <p:sp>
        <p:nvSpPr>
          <p:cNvPr id="21" name="mark5"/>
          <p:cNvSpPr/>
          <p:nvPr/>
        </p:nvSpPr>
        <p:spPr>
          <a:xfrm>
            <a:off x="6263640" y="3733800"/>
            <a:ext cx="45720" cy="19431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oint5"/>
          <p:cNvSpPr txBox="1"/>
          <p:nvPr/>
        </p:nvSpPr>
        <p:spPr>
          <a:xfrm>
            <a:off x="6492240" y="3669030"/>
            <a:ext cx="4572000" cy="8069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F4F5FF"/>
                </a:solidFill>
                <a:latin typeface="Unbounded"/>
              </a:rPr>
              <a:t>tone: exec, academic, kids, persuasive</a:t>
            </a:r>
          </a:p>
        </p:txBody>
      </p:sp>
      <p:sp>
        <p:nvSpPr>
          <p:cNvPr id="23" name="mark6"/>
          <p:cNvSpPr/>
          <p:nvPr/>
        </p:nvSpPr>
        <p:spPr>
          <a:xfrm>
            <a:off x="6263640" y="4613910"/>
            <a:ext cx="45720" cy="19431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oint6"/>
          <p:cNvSpPr txBox="1"/>
          <p:nvPr/>
        </p:nvSpPr>
        <p:spPr>
          <a:xfrm>
            <a:off x="6492240" y="4549140"/>
            <a:ext cx="4572000" cy="8069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F4F5FF"/>
                </a:solidFill>
                <a:latin typeface="Unbounded"/>
              </a:rPr>
              <a:t>images: stock, AI, mixed or none</a:t>
            </a:r>
          </a:p>
        </p:txBody>
      </p:sp>
      <p:sp>
        <p:nvSpPr>
          <p:cNvPr id="25" name="mark7"/>
          <p:cNvSpPr/>
          <p:nvPr/>
        </p:nvSpPr>
        <p:spPr>
          <a:xfrm>
            <a:off x="6263640" y="5494020"/>
            <a:ext cx="45720" cy="19431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point7"/>
          <p:cNvSpPr txBox="1"/>
          <p:nvPr/>
        </p:nvSpPr>
        <p:spPr>
          <a:xfrm>
            <a:off x="6492240" y="5429250"/>
            <a:ext cx="4572000" cy="8069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F4F5FF"/>
                </a:solidFill>
                <a:latin typeface="Unbounded"/>
              </a:rPr>
              <a:t>agenda: clickable, with links back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27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95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95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7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95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95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7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95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95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7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95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95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7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95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95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7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95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95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7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95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95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27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95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95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69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71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6949440" y="548640"/>
            <a:ext cx="7315200" cy="73152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2743200" y="-2743200"/>
            <a:ext cx="5029200" cy="50292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517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3200000">
            <a:off x="8321040" y="1325880"/>
            <a:ext cx="4206240" cy="420624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8229600" y="109728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1828800"/>
            <a:ext cx="91440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9541327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640080"/>
            <a:ext cx="6949440" cy="10972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4F5FF"/>
                </a:solidFill>
                <a:latin typeface="Unbounded"/>
              </a:rPr>
              <a:t>Six themes, one per mood</a:t>
            </a:r>
          </a:p>
        </p:txBody>
      </p:sp>
      <p:sp>
        <p:nvSpPr>
          <p:cNvPr id="10" name="dot0"/>
          <p:cNvSpPr/>
          <p:nvPr/>
        </p:nvSpPr>
        <p:spPr>
          <a:xfrm>
            <a:off x="841248" y="2341626"/>
            <a:ext cx="128016" cy="128016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oint0"/>
          <p:cNvSpPr txBox="1"/>
          <p:nvPr/>
        </p:nvSpPr>
        <p:spPr>
          <a:xfrm>
            <a:off x="1234440" y="2240280"/>
            <a:ext cx="63093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F4F5FF"/>
                </a:solidFill>
                <a:latin typeface="Unbounded"/>
              </a:rPr>
              <a:t>Midnight: tech, AI and space</a:t>
            </a:r>
          </a:p>
        </p:txBody>
      </p:sp>
      <p:sp>
        <p:nvSpPr>
          <p:cNvPr id="12" name="dot1"/>
          <p:cNvSpPr/>
          <p:nvPr/>
        </p:nvSpPr>
        <p:spPr>
          <a:xfrm>
            <a:off x="841248" y="3146298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oint1"/>
          <p:cNvSpPr txBox="1"/>
          <p:nvPr/>
        </p:nvSpPr>
        <p:spPr>
          <a:xfrm>
            <a:off x="1234440" y="3044952"/>
            <a:ext cx="63093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F4F5FF"/>
                </a:solidFill>
                <a:latin typeface="Unbounded"/>
              </a:rPr>
              <a:t>Emerald: finance and nature</a:t>
            </a:r>
          </a:p>
        </p:txBody>
      </p:sp>
      <p:sp>
        <p:nvSpPr>
          <p:cNvPr id="14" name="dot2"/>
          <p:cNvSpPr/>
          <p:nvPr/>
        </p:nvSpPr>
        <p:spPr>
          <a:xfrm>
            <a:off x="841248" y="3950970"/>
            <a:ext cx="128016" cy="128016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oint2"/>
          <p:cNvSpPr txBox="1"/>
          <p:nvPr/>
        </p:nvSpPr>
        <p:spPr>
          <a:xfrm>
            <a:off x="1234440" y="3849624"/>
            <a:ext cx="63093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F4F5FF"/>
                </a:solidFill>
                <a:latin typeface="Unbounded"/>
              </a:rPr>
              <a:t>Ember: history, sport and culture</a:t>
            </a:r>
          </a:p>
        </p:txBody>
      </p:sp>
      <p:sp>
        <p:nvSpPr>
          <p:cNvPr id="16" name="dot3"/>
          <p:cNvSpPr/>
          <p:nvPr/>
        </p:nvSpPr>
        <p:spPr>
          <a:xfrm>
            <a:off x="841248" y="4755642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oint3"/>
          <p:cNvSpPr txBox="1"/>
          <p:nvPr/>
        </p:nvSpPr>
        <p:spPr>
          <a:xfrm>
            <a:off x="1234440" y="4654296"/>
            <a:ext cx="63093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F4F5FF"/>
                </a:solidFill>
                <a:latin typeface="Unbounded"/>
              </a:rPr>
              <a:t>Aurum: luxury and leadership</a:t>
            </a:r>
          </a:p>
        </p:txBody>
      </p:sp>
      <p:sp>
        <p:nvSpPr>
          <p:cNvPr id="18" name="dot4"/>
          <p:cNvSpPr/>
          <p:nvPr/>
        </p:nvSpPr>
        <p:spPr>
          <a:xfrm>
            <a:off x="841248" y="5560314"/>
            <a:ext cx="128016" cy="128016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oint4"/>
          <p:cNvSpPr txBox="1"/>
          <p:nvPr/>
        </p:nvSpPr>
        <p:spPr>
          <a:xfrm>
            <a:off x="1234440" y="5458968"/>
            <a:ext cx="63093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F4F5FF"/>
                </a:solidFill>
                <a:latin typeface="Unbounded"/>
              </a:rPr>
              <a:t>Paper and Lagoon: business, science, health</a:t>
            </a:r>
          </a:p>
        </p:txBody>
      </p:sp>
      <p:pic>
        <p:nvPicPr>
          <p:cNvPr id="20" name="image" descr="ai-elegant-abstract-composition-of--fb4e83a9.jpg"/>
          <p:cNvPicPr>
            <a:picLocks noChangeAspect="1"/>
          </p:cNvPicPr>
          <p:nvPr/>
        </p:nvPicPr>
        <p:blipFill>
          <a:blip r:embed="rId2"/>
          <a:srcRect l="20447" r="20447"/>
          <a:stretch>
            <a:fillRect/>
          </a:stretch>
        </p:blipFill>
        <p:spPr>
          <a:xfrm>
            <a:off x="8138160" y="0"/>
            <a:ext cx="405353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36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6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4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576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36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36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616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4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752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36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36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792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4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928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36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36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96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4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104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36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36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144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4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58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6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-1828800" y="-384048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8229600" y="384048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517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>
            <a:off x="10607040" y="4937760"/>
            <a:ext cx="2743200" cy="274320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411480" y="457200"/>
            <a:ext cx="320040" cy="3200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1691640"/>
            <a:ext cx="91440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10071400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502920"/>
            <a:ext cx="10515600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4F5FF"/>
                </a:solidFill>
                <a:latin typeface="Unbounded"/>
              </a:rPr>
              <a:t>Who it's for</a:t>
            </a:r>
          </a:p>
        </p:txBody>
      </p:sp>
      <p:sp>
        <p:nvSpPr>
          <p:cNvPr id="10" name="photo0"/>
          <p:cNvSpPr/>
          <p:nvPr/>
        </p:nvSpPr>
        <p:spPr>
          <a:xfrm>
            <a:off x="1188720" y="2057400"/>
            <a:ext cx="1904924" cy="1904924"/>
          </a:xfrm>
          <a:prstGeom prst="ellipse">
            <a:avLst/>
          </a:prstGeom>
          <a:solidFill>
            <a:srgbClr val="15172E"/>
          </a:solidFill>
          <a:ln w="25400">
            <a:solidFill>
              <a:srgbClr val="7C5CFF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F4F5FF"/>
                </a:solidFill>
                <a:latin typeface="Unbounded"/>
              </a:rPr>
              <a:t>S</a:t>
            </a:r>
          </a:p>
        </p:txBody>
      </p:sp>
      <p:sp>
        <p:nvSpPr>
          <p:cNvPr id="11" name="person0"/>
          <p:cNvSpPr txBox="1"/>
          <p:nvPr/>
        </p:nvSpPr>
        <p:spPr>
          <a:xfrm>
            <a:off x="1005840" y="4236644"/>
            <a:ext cx="2270684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4F5FF"/>
                </a:solidFill>
                <a:latin typeface="Unbounded"/>
              </a:rPr>
              <a:t>Students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7C5CFF"/>
                </a:solidFill>
                <a:latin typeface="Unbounded"/>
              </a:rPr>
              <a:t>Class talks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9AA0C3"/>
                </a:solidFill>
                <a:latin typeface="Unbounded"/>
              </a:rPr>
              <a:t>Topic in, finished deck out.</a:t>
            </a:r>
          </a:p>
        </p:txBody>
      </p:sp>
      <p:sp>
        <p:nvSpPr>
          <p:cNvPr id="12" name="photo1"/>
          <p:cNvSpPr/>
          <p:nvPr/>
        </p:nvSpPr>
        <p:spPr>
          <a:xfrm>
            <a:off x="3825164" y="2057400"/>
            <a:ext cx="1904924" cy="1904924"/>
          </a:xfrm>
          <a:prstGeom prst="ellipse">
            <a:avLst/>
          </a:prstGeom>
          <a:solidFill>
            <a:srgbClr val="15172E"/>
          </a:solidFill>
          <a:ln w="25400">
            <a:solidFill>
              <a:srgbClr val="22D3EE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F4F5FF"/>
                </a:solidFill>
                <a:latin typeface="Unbounded"/>
              </a:rPr>
              <a:t>T</a:t>
            </a:r>
          </a:p>
        </p:txBody>
      </p:sp>
      <p:sp>
        <p:nvSpPr>
          <p:cNvPr id="13" name="person1"/>
          <p:cNvSpPr txBox="1"/>
          <p:nvPr/>
        </p:nvSpPr>
        <p:spPr>
          <a:xfrm>
            <a:off x="3642284" y="4236644"/>
            <a:ext cx="2270684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4F5FF"/>
                </a:solidFill>
                <a:latin typeface="Unbounded"/>
              </a:rPr>
              <a:t>Teachers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7C5CFF"/>
                </a:solidFill>
                <a:latin typeface="Unbounded"/>
              </a:rPr>
              <a:t>Lessons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9AA0C3"/>
                </a:solidFill>
                <a:latin typeface="Unbounded"/>
              </a:rPr>
              <a:t>Clear, calm decks for any subject.</a:t>
            </a:r>
          </a:p>
        </p:txBody>
      </p:sp>
      <p:sp>
        <p:nvSpPr>
          <p:cNvPr id="14" name="photo2"/>
          <p:cNvSpPr/>
          <p:nvPr/>
        </p:nvSpPr>
        <p:spPr>
          <a:xfrm>
            <a:off x="6461608" y="2057400"/>
            <a:ext cx="1904924" cy="1904924"/>
          </a:xfrm>
          <a:prstGeom prst="ellipse">
            <a:avLst/>
          </a:prstGeom>
          <a:solidFill>
            <a:srgbClr val="15172E"/>
          </a:solidFill>
          <a:ln w="25400">
            <a:solidFill>
              <a:srgbClr val="7C5CFF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F4F5FF"/>
                </a:solidFill>
                <a:latin typeface="Unbounded"/>
              </a:rPr>
              <a:t>F</a:t>
            </a:r>
          </a:p>
        </p:txBody>
      </p:sp>
      <p:sp>
        <p:nvSpPr>
          <p:cNvPr id="15" name="person2"/>
          <p:cNvSpPr txBox="1"/>
          <p:nvPr/>
        </p:nvSpPr>
        <p:spPr>
          <a:xfrm>
            <a:off x="6278728" y="4236644"/>
            <a:ext cx="2270684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4F5FF"/>
                </a:solidFill>
                <a:latin typeface="Unbounded"/>
              </a:rPr>
              <a:t>Founders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7C5CFF"/>
                </a:solidFill>
                <a:latin typeface="Unbounded"/>
              </a:rPr>
              <a:t>Pitches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9AA0C3"/>
                </a:solidFill>
                <a:latin typeface="Unbounded"/>
              </a:rPr>
              <a:t>Dramatic motion for big moments.</a:t>
            </a:r>
          </a:p>
        </p:txBody>
      </p:sp>
      <p:sp>
        <p:nvSpPr>
          <p:cNvPr id="16" name="photo3"/>
          <p:cNvSpPr/>
          <p:nvPr/>
        </p:nvSpPr>
        <p:spPr>
          <a:xfrm>
            <a:off x="9098051" y="2057400"/>
            <a:ext cx="1904924" cy="1904924"/>
          </a:xfrm>
          <a:prstGeom prst="ellipse">
            <a:avLst/>
          </a:prstGeom>
          <a:solidFill>
            <a:srgbClr val="15172E"/>
          </a:solidFill>
          <a:ln w="25400">
            <a:solidFill>
              <a:srgbClr val="22D3EE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F4F5FF"/>
                </a:solidFill>
                <a:latin typeface="Unbounded"/>
              </a:rPr>
              <a:t>T</a:t>
            </a:r>
          </a:p>
        </p:txBody>
      </p:sp>
      <p:sp>
        <p:nvSpPr>
          <p:cNvPr id="17" name="person3"/>
          <p:cNvSpPr txBox="1"/>
          <p:nvPr/>
        </p:nvSpPr>
        <p:spPr>
          <a:xfrm>
            <a:off x="8915171" y="4236644"/>
            <a:ext cx="2270684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4F5FF"/>
                </a:solidFill>
                <a:latin typeface="Unbounded"/>
              </a:rPr>
              <a:t>Teams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7C5CFF"/>
                </a:solidFill>
                <a:latin typeface="Unbounded"/>
              </a:rPr>
              <a:t>Reports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9AA0C3"/>
                </a:solidFill>
                <a:latin typeface="Unbounded"/>
              </a:rPr>
              <a:t>Charts and data, on brand.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3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3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4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3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63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4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3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3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3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4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3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3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63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4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46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48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-2286000" y="-1828800"/>
            <a:ext cx="8686800" cy="86868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5C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5060000">
            <a:off x="822960" y="1143000"/>
            <a:ext cx="4572000" cy="457200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4937760" y="123444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6035040" y="3886200"/>
            <a:ext cx="109728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10601474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umber"/>
          <p:cNvSpPr txBox="1"/>
          <p:nvPr/>
        </p:nvSpPr>
        <p:spPr>
          <a:xfrm>
            <a:off x="822960" y="1143000"/>
            <a:ext cx="4572000" cy="457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0" b="1">
                <a:solidFill>
                  <a:srgbClr val="7C5CFF"/>
                </a:solidFill>
                <a:latin typeface="Unbounded"/>
              </a:rPr>
              <a:t>04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6035040" y="1188720"/>
            <a:ext cx="5486400" cy="25603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5000" b="1">
                <a:solidFill>
                  <a:srgbClr val="F4F5FF"/>
                </a:solidFill>
                <a:latin typeface="Unbounded"/>
              </a:rPr>
              <a:t>Get started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6035040" y="420624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AA0C3"/>
                </a:solidFill>
                <a:latin typeface="Unbounded"/>
              </a:rPr>
              <a:t>One minute to install.</a:t>
            </a:r>
          </a:p>
        </p:txBody>
      </p:sp>
      <p:sp>
        <p:nvSpPr>
          <p:cNvPr id="12" name="back">
            <a:hlinkClick action="ppaction://hlinksldjump" r:id="rId2"/>
          </p:cNvPr>
          <p:cNvSpPr txBox="1"/>
          <p:nvPr/>
        </p:nvSpPr>
        <p:spPr>
          <a:xfrm>
            <a:off x="9814255" y="36576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0C3"/>
                </a:solidFill>
                <a:latin typeface="Unbounded"/>
              </a:rPr>
              <a:t>← The tour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3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05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3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22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24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-2743200" y="3200400"/>
            <a:ext cx="5943600" cy="59436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7315200" y="-137160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5172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6800000">
            <a:off x="6949440" y="1371600"/>
            <a:ext cx="4114800" cy="411480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6629400" y="539496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3017520"/>
            <a:ext cx="91440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11131548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 txBox="1"/>
          <p:nvPr/>
        </p:nvSpPr>
        <p:spPr>
          <a:xfrm>
            <a:off x="822960" y="1005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400">
                <a:solidFill>
                  <a:srgbClr val="7C5CFF"/>
                </a:solidFill>
                <a:latin typeface="Unbounded"/>
              </a:rPr>
              <a:t>INSTALL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822960" y="1371600"/>
            <a:ext cx="5120640" cy="15544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4F5FF"/>
                </a:solidFill>
                <a:latin typeface="Unbounded"/>
              </a:rPr>
              <a:t>Clone, copy, ask</a:t>
            </a:r>
          </a:p>
        </p:txBody>
      </p:sp>
      <p:sp>
        <p:nvSpPr>
          <p:cNvPr id="11" name="body"/>
          <p:cNvSpPr txBox="1"/>
          <p:nvPr/>
        </p:nvSpPr>
        <p:spPr>
          <a:xfrm>
            <a:off x="822960" y="3337560"/>
            <a:ext cx="5120640" cy="2926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AA0C3"/>
                </a:solidFill>
                <a:latin typeface="Unbounded"/>
              </a:rPr>
              <a:t>Clone the repo, copy the morphdeck folder into ~/.claude/skills, install the free Unbounded font, then ask Claude for a deck.</a:t>
            </a:r>
          </a:p>
        </p:txBody>
      </p:sp>
      <p:sp>
        <p:nvSpPr>
          <p:cNvPr id="12" name="aside"/>
          <p:cNvSpPr txBox="1"/>
          <p:nvPr/>
        </p:nvSpPr>
        <p:spPr>
          <a:xfrm>
            <a:off x="7315200" y="2194560"/>
            <a:ext cx="3291840" cy="2468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3400" b="1">
                <a:solidFill>
                  <a:srgbClr val="F4F5FF"/>
                </a:solidFill>
                <a:latin typeface="Unbounded"/>
              </a:rPr>
              <a:t>Then just ask Claude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3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3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3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3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22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24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2441448" y="-1143000"/>
            <a:ext cx="7315200" cy="73152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2560320" y="-256032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5C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3600000">
            <a:off x="2670048" y="-457200"/>
            <a:ext cx="6858000" cy="685800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9829800" y="914400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5641848" y="4114800"/>
            <a:ext cx="91440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11661621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 txBox="1"/>
          <p:nvPr/>
        </p:nvSpPr>
        <p:spPr>
          <a:xfrm>
            <a:off x="2898648" y="9144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400">
                <a:solidFill>
                  <a:srgbClr val="7C5CFF"/>
                </a:solidFill>
                <a:latin typeface="Unbounded"/>
              </a:rPr>
              <a:t>YOUR TURN</a:t>
            </a:r>
          </a:p>
        </p:txBody>
      </p:sp>
      <p:sp>
        <p:nvSpPr>
          <p:cNvPr id="10" name="question"/>
          <p:cNvSpPr txBox="1"/>
          <p:nvPr/>
        </p:nvSpPr>
        <p:spPr>
          <a:xfrm>
            <a:off x="2898648" y="1325880"/>
            <a:ext cx="6400800" cy="2651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sz="5000" b="1">
                <a:solidFill>
                  <a:srgbClr val="F4F5FF"/>
                </a:solidFill>
                <a:latin typeface="Unbounded"/>
              </a:rPr>
              <a:t>What will you present next?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3127248" y="438912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9AA0C3"/>
                </a:solidFill>
                <a:latin typeface="Unbounded"/>
              </a:rPr>
              <a:t>Give morphdeck a topic and watch it move.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wd">
                                    <p:tmPct val="12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81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3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16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18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>
            <a:off x="1984248" y="-1216152"/>
            <a:ext cx="8229600" cy="8229600"/>
          </a:xfrm>
          <a:prstGeom prst="ellipse">
            <a:avLst/>
          </a:prstGeom>
          <a:gradFill rotWithShape="1">
            <a:gsLst>
              <a:gs pos="0">
                <a:srgbClr val="7C5CFF">
                  <a:alpha val="55000"/>
                </a:srgbClr>
              </a:gs>
              <a:gs pos="45000">
                <a:srgbClr val="7C5CFF">
                  <a:alpha val="24750"/>
                </a:srgbClr>
              </a:gs>
              <a:gs pos="100000">
                <a:srgbClr val="7C5CFF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22D3EE">
                  <a:alpha val="44000"/>
                </a:srgbClr>
              </a:gs>
              <a:gs pos="45000">
                <a:srgbClr val="22D3EE">
                  <a:alpha val="19800"/>
                </a:srgbClr>
              </a:gs>
              <a:gs pos="100000">
                <a:srgbClr val="22D3EE">
                  <a:alpha val="1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5C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2000000">
            <a:off x="2441448" y="-758952"/>
            <a:ext cx="7315200" cy="7315200"/>
          </a:xfrm>
          <a:prstGeom prst="ellipse">
            <a:avLst/>
          </a:prstGeom>
          <a:noFill/>
          <a:ln w="19050">
            <a:solidFill>
              <a:srgbClr val="22D3EE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>
            <a:off x="10332720" y="539496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5641848" y="3657600"/>
            <a:ext cx="914400" cy="82296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2898648" y="1234440"/>
            <a:ext cx="6400800" cy="22402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5100" b="1">
                <a:solidFill>
                  <a:srgbClr val="F4F5FF"/>
                </a:solidFill>
                <a:latin typeface="Unbounded"/>
              </a:rPr>
              <a:t>Type a topic. Get a film.</a:t>
            </a:r>
          </a:p>
        </p:txBody>
      </p:sp>
      <p:sp>
        <p:nvSpPr>
          <p:cNvPr id="10" name="subtitle"/>
          <p:cNvSpPr txBox="1"/>
          <p:nvPr/>
        </p:nvSpPr>
        <p:spPr>
          <a:xfrm>
            <a:off x="3127248" y="393192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9AA0C3"/>
                </a:solidFill>
                <a:latin typeface="Unbounded"/>
              </a:rPr>
              <a:t>github.com/amateurcoder015/morphdeck-skill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19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8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5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05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3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3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45 E" pathEditMode="relative" ptsTypes="">
                                      <p:cBhvr>
                                        <p:cTn id="14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16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morphdeck showcase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