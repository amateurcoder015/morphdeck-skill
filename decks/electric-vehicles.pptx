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EV sales</c:v>
                </c:pt>
              </c:strCache>
            </c:strRef>
          </c:tx>
          <c:spPr>
            <a:solidFill>
              <a:srgbClr val="B6F36B"/>
            </a:solidFill>
          </c:spPr>
          <c:cat>
            <c:strRef>
              <c:f>Sheet1!$A$2:$A$6</c:f>
              <c:strCach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2.1</c:v>
                </c:pt>
                <c:pt idx="1">
                  <c:v>3.0</c:v>
                </c:pt>
                <c:pt idx="2">
                  <c:v>6.6</c:v>
                </c:pt>
                <c:pt idx="3">
                  <c:v>10.5</c:v>
                </c:pt>
                <c:pt idx="4">
                  <c:v>13.8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ECF8E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CC5B0"/>
            </a:solidFill>
          </a:ln>
        </c:spPr>
        <c:txPr>
          <a:bodyPr/>
          <a:lstStyle/>
          <a:p>
            <a:pPr>
              <a:defRPr sz="1200">
                <a:solidFill>
                  <a:srgbClr val="ECF8E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9CC5B0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9CC5B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9CC5B0"/>
          </a:solidFill>
          <a:latin typeface="Unbounde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B6F36B"/>
              </a:solidFill>
              <a:ln w="25400">
                <a:solidFill>
                  <a:srgbClr val="0C2620"/>
                </a:solidFill>
              </a:ln>
            </c:spPr>
          </c:dPt>
          <c:dPt>
            <c:idx val="1"/>
            <c:spPr>
              <a:solidFill>
                <a:srgbClr val="3FB98A"/>
              </a:solidFill>
              <a:ln w="25400">
                <a:solidFill>
                  <a:srgbClr val="0C2620"/>
                </a:solidFill>
              </a:ln>
            </c:spPr>
          </c:dPt>
          <c:dPt>
            <c:idx val="2"/>
            <c:spPr>
              <a:solidFill>
                <a:srgbClr val="9CC5B0"/>
              </a:solidFill>
              <a:ln w="25400">
                <a:solidFill>
                  <a:srgbClr val="0C2620"/>
                </a:solidFill>
              </a:ln>
            </c:spPr>
          </c:dPt>
          <c:dPt>
            <c:idx val="3"/>
            <c:spPr>
              <a:solidFill>
                <a:srgbClr val="ECF8EF"/>
              </a:solidFill>
              <a:ln w="25400">
                <a:solidFill>
                  <a:srgbClr val="0C2620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China</c:v>
                </c:pt>
                <c:pt idx="1">
                  <c:v>Europe</c:v>
                </c:pt>
                <c:pt idx="2">
                  <c:v>United States</c:v>
                </c:pt>
                <c:pt idx="3">
                  <c:v>Rest of world</c:v>
                </c:pt>
              </c:strCache>
            </c:strRef>
          </c:cat>
          <c:val>
            <c:numRef>
              <c:f>Sheet1!$B$2:$B$5</c:f>
              <c:numCache>
                <c:formatCode>0"%"</c:formatCode>
                <c:ptCount val="4"/>
                <c:pt idx="0">
                  <c:v>60</c:v>
                </c:pt>
                <c:pt idx="1">
                  <c:v>25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300" b="1">
                  <a:solidFill>
                    <a:srgbClr val="0C262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  <c:txPr>
        <a:bodyPr/>
        <a:lstStyle/>
        <a:p>
          <a:pPr>
            <a:defRPr>
              <a:solidFill>
                <a:srgbClr val="ECF8EF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9CC5B0"/>
          </a:solidFill>
          <a:latin typeface="Unbounded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credit: “Electric car charging” by Alan Trotter (CC BY 2.0) — https://www.flickr.com/photos/87065732@N00/2492684025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credit: “Electric Vehicle Charging Station” by Richard Masoner / Cyclelicious (CC BY-SA 2.0) — https://www.flickr.com/photos/99247795@N00/7236827580</a:t>
            </a:r>
          </a:p>
          <a:p/>
          <a:p>
            <a:r>
              <a:t>Image credit: “Braille and tactile signs in Yutong E12 electric bus City Loop route Brisbane P1090946” by John Robert McPherson (CC BY-SA 4.0) — https://commons.wikimedia.org/w/index.php?curid=110428471</a:t>
            </a:r>
          </a:p>
          <a:p/>
          <a:p>
            <a:r>
              <a:t>Image credit: “Wind Turbine” by SustainableDevelopment (CC BY 2.0) — https://www.flickr.com/photos/22626091@N04/2204304728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 rot="20280000">
            <a:off x="3675888" y="84125"/>
            <a:ext cx="12582144" cy="4403750"/>
          </a:xfrm>
          <a:prstGeom prst="ellipse">
            <a:avLst/>
          </a:prstGeom>
          <a:gradFill rotWithShape="1">
            <a:gsLst>
              <a:gs pos="0">
                <a:srgbClr val="B6F36B">
                  <a:alpha val="45000"/>
                </a:srgbClr>
              </a:gs>
              <a:gs pos="45000">
                <a:srgbClr val="B6F36B">
                  <a:alpha val="20250"/>
                </a:srgbClr>
              </a:gs>
              <a:gs pos="100000">
                <a:srgbClr val="B6F36B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 rot="20280000">
            <a:off x="-3913632" y="4418381"/>
            <a:ext cx="8193024" cy="2867558"/>
          </a:xfrm>
          <a:prstGeom prst="ellipse">
            <a:avLst/>
          </a:prstGeom>
          <a:gradFill rotWithShape="1">
            <a:gsLst>
              <a:gs pos="0">
                <a:srgbClr val="3FB98A">
                  <a:alpha val="36000"/>
                </a:srgbClr>
              </a:gs>
              <a:gs pos="45000">
                <a:srgbClr val="3FB98A">
                  <a:alpha val="16200"/>
                </a:srgbClr>
              </a:gs>
              <a:gs pos="100000">
                <a:srgbClr val="3FB98A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6F36B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>
            <a:off x="7680960" y="640080"/>
            <a:ext cx="4937760" cy="4937760"/>
          </a:xfrm>
          <a:prstGeom prst="arc">
            <a:avLst>
              <a:gd name="adj1" fmla="val -16000000"/>
              <a:gd name="adj2" fmla="val 6000000"/>
            </a:avLst>
          </a:prstGeom>
          <a:noFill/>
          <a:ln w="38100">
            <a:solidFill>
              <a:srgbClr val="3FB98A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10277856" y="5212080"/>
            <a:ext cx="1207008" cy="548640"/>
          </a:xfrm>
          <a:prstGeom prst="roundRect">
            <a:avLst>
              <a:gd name="adj" fmla="val 50000"/>
            </a:avLst>
          </a:prstGeom>
          <a:solidFill>
            <a:srgbClr val="3FB9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4617720"/>
            <a:ext cx="1371600" cy="82296"/>
          </a:xfrm>
          <a:prstGeom prst="rect">
            <a:avLst/>
          </a:prstGeom>
          <a:solidFill>
            <a:srgbClr val="B6F3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1108336" cy="64008"/>
          </a:xfrm>
          <a:prstGeom prst="rect">
            <a:avLst/>
          </a:prstGeom>
          <a:solidFill>
            <a:srgbClr val="3FB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400">
                <a:solidFill>
                  <a:srgbClr val="B6F36B"/>
                </a:solidFill>
                <a:latin typeface="Unbounded"/>
              </a:rPr>
              <a:t>TRANSPORT IN TRANSITION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822960" y="1783080"/>
            <a:ext cx="7589520" cy="26974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6300" b="1">
                <a:solidFill>
                  <a:srgbClr val="ECF8EF"/>
                </a:solidFill>
                <a:latin typeface="Unbounded"/>
              </a:rPr>
              <a:t>The Electric Shift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822960" y="4937760"/>
            <a:ext cx="69494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CC5B0"/>
                </a:solidFill>
                <a:latin typeface="Unbounded"/>
              </a:rPr>
              <a:t>How electric cars went from niche to mainstream in five years.</a:t>
            </a:r>
          </a:p>
        </p:txBody>
      </p:sp>
      <p:sp>
        <p:nvSpPr>
          <p:cNvPr id="12" name="byline"/>
          <p:cNvSpPr txBox="1"/>
          <p:nvPr/>
        </p:nvSpPr>
        <p:spPr>
          <a:xfrm>
            <a:off x="822960" y="617220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CC5B0"/>
                </a:solidFill>
                <a:latin typeface="Unbounded"/>
              </a:rPr>
              <a:t>Example deck · morphdeck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5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405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3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20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22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 rot="20940000">
            <a:off x="-4937760" y="3895344"/>
            <a:ext cx="11704320" cy="4096512"/>
          </a:xfrm>
          <a:prstGeom prst="ellipse">
            <a:avLst/>
          </a:prstGeom>
          <a:gradFill rotWithShape="1">
            <a:gsLst>
              <a:gs pos="0">
                <a:srgbClr val="B6F36B">
                  <a:alpha val="45000"/>
                </a:srgbClr>
              </a:gs>
              <a:gs pos="45000">
                <a:srgbClr val="B6F36B">
                  <a:alpha val="20250"/>
                </a:srgbClr>
              </a:gs>
              <a:gs pos="100000">
                <a:srgbClr val="B6F36B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 rot="20940000">
            <a:off x="7772400" y="-1737360"/>
            <a:ext cx="7315200" cy="2560320"/>
          </a:xfrm>
          <a:prstGeom prst="ellipse">
            <a:avLst/>
          </a:prstGeom>
          <a:gradFill rotWithShape="1">
            <a:gsLst>
              <a:gs pos="0">
                <a:srgbClr val="3FB98A">
                  <a:alpha val="36000"/>
                </a:srgbClr>
              </a:gs>
              <a:gs pos="45000">
                <a:srgbClr val="3FB98A">
                  <a:alpha val="16200"/>
                </a:srgbClr>
              </a:gs>
              <a:gs pos="100000">
                <a:srgbClr val="3FB98A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5349240" y="822960"/>
            <a:ext cx="36576" cy="5212080"/>
          </a:xfrm>
          <a:prstGeom prst="rect">
            <a:avLst/>
          </a:prstGeom>
          <a:solidFill>
            <a:srgbClr val="B6F36B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8400000">
            <a:off x="-1280160" y="3291840"/>
            <a:ext cx="4206240" cy="4206240"/>
          </a:xfrm>
          <a:prstGeom prst="arc">
            <a:avLst>
              <a:gd name="adj1" fmla="val -16000000"/>
              <a:gd name="adj2" fmla="val 6000000"/>
            </a:avLst>
          </a:prstGeom>
          <a:noFill/>
          <a:ln w="38100">
            <a:solidFill>
              <a:srgbClr val="3FB98A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4462272" y="868680"/>
            <a:ext cx="905256" cy="411480"/>
          </a:xfrm>
          <a:prstGeom prst="roundRect">
            <a:avLst>
              <a:gd name="adj" fmla="val 50000"/>
            </a:avLst>
          </a:prstGeom>
          <a:solidFill>
            <a:srgbClr val="3FB9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3063240"/>
            <a:ext cx="914400" cy="82296"/>
          </a:xfrm>
          <a:prstGeom prst="rect">
            <a:avLst/>
          </a:prstGeom>
          <a:solidFill>
            <a:srgbClr val="B6F3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2216672" cy="64008"/>
          </a:xfrm>
          <a:prstGeom prst="rect">
            <a:avLst/>
          </a:prstGeom>
          <a:solidFill>
            <a:srgbClr val="3FB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822960" y="914400"/>
            <a:ext cx="4206240" cy="20116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4400" b="1">
                <a:solidFill>
                  <a:srgbClr val="ECF8EF"/>
                </a:solidFill>
                <a:latin typeface="Unbounded"/>
              </a:rPr>
              <a:t>Where we're going</a:t>
            </a:r>
          </a:p>
        </p:txBody>
      </p:sp>
      <p:sp>
        <p:nvSpPr>
          <p:cNvPr id="10" name="num0">
            <a:hlinkClick action="ppaction://hlinksldjump" r:id="rId2"/>
          </p:cNvPr>
          <p:cNvSpPr txBox="1"/>
          <p:nvPr/>
        </p:nvSpPr>
        <p:spPr>
          <a:xfrm>
            <a:off x="5852160" y="2377440"/>
            <a:ext cx="822960" cy="1051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6F36B"/>
                </a:solidFill>
                <a:latin typeface="Unbounded"/>
              </a:rPr>
              <a:t>01</a:t>
            </a:r>
          </a:p>
        </p:txBody>
      </p:sp>
      <p:sp>
        <p:nvSpPr>
          <p:cNvPr id="11" name="item0">
            <a:hlinkClick action="ppaction://hlinksldjump" r:id="rId2"/>
          </p:cNvPr>
          <p:cNvSpPr txBox="1"/>
          <p:nvPr/>
        </p:nvSpPr>
        <p:spPr>
          <a:xfrm>
            <a:off x="6720840" y="2377440"/>
            <a:ext cx="4754880" cy="1051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CF8EF"/>
                </a:solidFill>
                <a:latin typeface="Unbounded"/>
              </a:rPr>
              <a:t>The surge</a:t>
            </a:r>
            <a:r>
              <a:rPr sz="2400">
                <a:solidFill>
                  <a:srgbClr val="3FB98A"/>
                </a:solidFill>
                <a:latin typeface="Unbounded"/>
              </a:rPr>
              <a:t>  →</a:t>
            </a:r>
          </a:p>
        </p:txBody>
      </p:sp>
      <p:sp>
        <p:nvSpPr>
          <p:cNvPr id="12" name="num1">
            <a:hlinkClick action="ppaction://hlinksldjump" r:id="rId3"/>
          </p:cNvPr>
          <p:cNvSpPr txBox="1"/>
          <p:nvPr/>
        </p:nvSpPr>
        <p:spPr>
          <a:xfrm>
            <a:off x="5852160" y="3429000"/>
            <a:ext cx="822960" cy="1051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3FB98A"/>
                </a:solidFill>
                <a:latin typeface="Unbounded"/>
              </a:rPr>
              <a:t>02</a:t>
            </a:r>
          </a:p>
        </p:txBody>
      </p:sp>
      <p:sp>
        <p:nvSpPr>
          <p:cNvPr id="13" name="item1">
            <a:hlinkClick action="ppaction://hlinksldjump" r:id="rId3"/>
          </p:cNvPr>
          <p:cNvSpPr txBox="1"/>
          <p:nvPr/>
        </p:nvSpPr>
        <p:spPr>
          <a:xfrm>
            <a:off x="6720840" y="3429000"/>
            <a:ext cx="4754880" cy="1051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CF8EF"/>
                </a:solidFill>
                <a:latin typeface="Unbounded"/>
              </a:rPr>
              <a:t>What made it happen</a:t>
            </a:r>
            <a:r>
              <a:rPr sz="2400">
                <a:solidFill>
                  <a:srgbClr val="3FB98A"/>
                </a:solidFill>
                <a:latin typeface="Unbounded"/>
              </a:rPr>
              <a:t>  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5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05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4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624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4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24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26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-4892040" y="82296"/>
            <a:ext cx="13898880" cy="4864608"/>
          </a:xfrm>
          <a:prstGeom prst="ellipse">
            <a:avLst/>
          </a:prstGeom>
          <a:gradFill rotWithShape="1">
            <a:gsLst>
              <a:gs pos="0">
                <a:srgbClr val="B6F36B">
                  <a:alpha val="45000"/>
                </a:srgbClr>
              </a:gs>
              <a:gs pos="45000">
                <a:srgbClr val="B6F36B">
                  <a:alpha val="20250"/>
                </a:srgbClr>
              </a:gs>
              <a:gs pos="100000">
                <a:srgbClr val="B6F36B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7315200" y="4663440"/>
            <a:ext cx="7315200" cy="2560320"/>
          </a:xfrm>
          <a:prstGeom prst="ellipse">
            <a:avLst/>
          </a:prstGeom>
          <a:gradFill rotWithShape="1">
            <a:gsLst>
              <a:gs pos="0">
                <a:srgbClr val="3FB98A">
                  <a:alpha val="36000"/>
                </a:srgbClr>
              </a:gs>
              <a:gs pos="45000">
                <a:srgbClr val="3FB98A">
                  <a:alpha val="16200"/>
                </a:srgbClr>
              </a:gs>
              <a:gs pos="100000">
                <a:srgbClr val="3FB98A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6F36B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16800000">
            <a:off x="822960" y="1143000"/>
            <a:ext cx="4572000" cy="4572000"/>
          </a:xfrm>
          <a:prstGeom prst="arc">
            <a:avLst>
              <a:gd name="adj1" fmla="val -16000000"/>
              <a:gd name="adj2" fmla="val 6000000"/>
            </a:avLst>
          </a:prstGeom>
          <a:noFill/>
          <a:ln w="38100">
            <a:solidFill>
              <a:srgbClr val="3FB98A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4663440" y="123444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3FB9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6035040" y="3886200"/>
            <a:ext cx="1097280" cy="82296"/>
          </a:xfrm>
          <a:prstGeom prst="rect">
            <a:avLst/>
          </a:prstGeom>
          <a:solidFill>
            <a:srgbClr val="B6F3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3325008" cy="64008"/>
          </a:xfrm>
          <a:prstGeom prst="rect">
            <a:avLst/>
          </a:prstGeom>
          <a:solidFill>
            <a:srgbClr val="3FB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umber"/>
          <p:cNvSpPr txBox="1"/>
          <p:nvPr/>
        </p:nvSpPr>
        <p:spPr>
          <a:xfrm>
            <a:off x="822960" y="1143000"/>
            <a:ext cx="4572000" cy="457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0" b="1">
                <a:solidFill>
                  <a:srgbClr val="B6F36B"/>
                </a:solidFill>
                <a:latin typeface="Unbounded"/>
              </a:rPr>
              <a:t>01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6035040" y="1188720"/>
            <a:ext cx="5486400" cy="25603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5000" b="1">
                <a:solidFill>
                  <a:srgbClr val="ECF8EF"/>
                </a:solidFill>
                <a:latin typeface="Unbounded"/>
              </a:rPr>
              <a:t>The surge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6035040" y="4206240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9CC5B0"/>
                </a:solidFill>
                <a:latin typeface="Unbounded"/>
              </a:rPr>
              <a:t>Sales took off after 2020.</a:t>
            </a:r>
          </a:p>
        </p:txBody>
      </p:sp>
      <p:sp>
        <p:nvSpPr>
          <p:cNvPr id="12" name="back">
            <a:hlinkClick action="ppaction://hlinksldjump" r:id="rId2"/>
          </p:cNvPr>
          <p:cNvSpPr txBox="1"/>
          <p:nvPr/>
        </p:nvSpPr>
        <p:spPr>
          <a:xfrm>
            <a:off x="9814255" y="36576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CC5B0"/>
                </a:solidFill>
                <a:latin typeface="Unbounded"/>
              </a:rPr>
              <a:t>← Where we're going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3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3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5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05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3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22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24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 rot="660000">
            <a:off x="1188720" y="896112"/>
            <a:ext cx="13167360" cy="4608576"/>
          </a:xfrm>
          <a:prstGeom prst="ellipse">
            <a:avLst/>
          </a:prstGeom>
          <a:gradFill rotWithShape="1">
            <a:gsLst>
              <a:gs pos="0">
                <a:srgbClr val="B6F36B">
                  <a:alpha val="45000"/>
                </a:srgbClr>
              </a:gs>
              <a:gs pos="45000">
                <a:srgbClr val="B6F36B">
                  <a:alpha val="20250"/>
                </a:srgbClr>
              </a:gs>
              <a:gs pos="100000">
                <a:srgbClr val="B6F36B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 rot="660000">
            <a:off x="-3474720" y="3950208"/>
            <a:ext cx="8778240" cy="3072384"/>
          </a:xfrm>
          <a:prstGeom prst="ellipse">
            <a:avLst/>
          </a:prstGeom>
          <a:gradFill rotWithShape="1">
            <a:gsLst>
              <a:gs pos="0">
                <a:srgbClr val="3FB98A">
                  <a:alpha val="36000"/>
                </a:srgbClr>
              </a:gs>
              <a:gs pos="45000">
                <a:srgbClr val="3FB98A">
                  <a:alpha val="16200"/>
                </a:srgbClr>
              </a:gs>
              <a:gs pos="100000">
                <a:srgbClr val="3FB98A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372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3600000">
            <a:off x="914400" y="457200"/>
            <a:ext cx="5943600" cy="5943600"/>
          </a:xfrm>
          <a:prstGeom prst="arc">
            <a:avLst>
              <a:gd name="adj1" fmla="val -16000000"/>
              <a:gd name="adj2" fmla="val 6000000"/>
            </a:avLst>
          </a:prstGeom>
          <a:noFill/>
          <a:ln w="38100">
            <a:solidFill>
              <a:srgbClr val="3FB98A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10753344" y="5943600"/>
            <a:ext cx="804672" cy="365760"/>
          </a:xfrm>
          <a:prstGeom prst="roundRect">
            <a:avLst>
              <a:gd name="adj" fmla="val 50000"/>
            </a:avLst>
          </a:prstGeom>
          <a:solidFill>
            <a:srgbClr val="3FB9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4206240"/>
            <a:ext cx="914400" cy="82296"/>
          </a:xfrm>
          <a:prstGeom prst="rect">
            <a:avLst/>
          </a:prstGeom>
          <a:solidFill>
            <a:srgbClr val="B6F3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4433344" cy="64008"/>
          </a:xfrm>
          <a:prstGeom prst="rect">
            <a:avLst/>
          </a:prstGeom>
          <a:solidFill>
            <a:srgbClr val="3FB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image" descr="stock-electric-car-charging-wide.jpg"/>
          <p:cNvPicPr>
            <a:picLocks noChangeAspect="1"/>
          </p:cNvPicPr>
          <p:nvPr/>
        </p:nvPicPr>
        <p:blipFill>
          <a:blip r:embed="rId2"/>
          <a:srcRect t="7996" b="799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" name="scrim"/>
          <p:cNvSpPr/>
          <p:nvPr/>
        </p:nvSpPr>
        <p:spPr>
          <a:xfrm>
            <a:off x="0" y="0"/>
            <a:ext cx="8686800" cy="6858000"/>
          </a:xfrm>
          <a:prstGeom prst="rect">
            <a:avLst/>
          </a:prstGeom>
          <a:gradFill rotWithShape="1">
            <a:gsLst>
              <a:gs pos="0">
                <a:srgbClr val="0C2620">
                  <a:alpha val="92000"/>
                </a:srgbClr>
              </a:gs>
              <a:gs pos="55000">
                <a:srgbClr val="0C2620">
                  <a:alpha val="50600"/>
                </a:srgbClr>
              </a:gs>
              <a:gs pos="100000">
                <a:srgbClr val="0C2620">
                  <a:alpha val="1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ccent"/>
          <p:cNvSpPr/>
          <p:nvPr/>
        </p:nvSpPr>
        <p:spPr>
          <a:xfrm>
            <a:off x="822960" y="4206240"/>
            <a:ext cx="914400" cy="82296"/>
          </a:xfrm>
          <a:prstGeom prst="rect">
            <a:avLst/>
          </a:prstGeom>
          <a:solidFill>
            <a:srgbClr val="B6F3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 txBox="1"/>
          <p:nvPr/>
        </p:nvSpPr>
        <p:spPr>
          <a:xfrm>
            <a:off x="822960" y="205740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400">
                <a:solidFill>
                  <a:srgbClr val="B6F36B"/>
                </a:solidFill>
                <a:latin typeface="Unbounded"/>
              </a:rPr>
              <a:t>ON THE ROAD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822960" y="2423160"/>
            <a:ext cx="6217920" cy="1645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4400" b="1">
                <a:solidFill>
                  <a:srgbClr val="ECF8EF"/>
                </a:solidFill>
                <a:latin typeface="Unbounded"/>
              </a:rPr>
              <a:t>Plugged in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822960" y="4526280"/>
            <a:ext cx="548640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ECF8EF"/>
                </a:solidFill>
                <a:latin typeface="Unbounded"/>
              </a:rPr>
              <a:t>Charging points are spreading through cities, highways and homes.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1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10000" fill="hold"/>
                                        <p:tgtEl>
                                          <p:spTgt spid="9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32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5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405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3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3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25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27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 rot="20280000">
            <a:off x="5577840" y="2505456"/>
            <a:ext cx="10241280" cy="3584448"/>
          </a:xfrm>
          <a:prstGeom prst="ellipse">
            <a:avLst/>
          </a:prstGeom>
          <a:gradFill rotWithShape="1">
            <a:gsLst>
              <a:gs pos="0">
                <a:srgbClr val="B6F36B">
                  <a:alpha val="45000"/>
                </a:srgbClr>
              </a:gs>
              <a:gs pos="45000">
                <a:srgbClr val="B6F36B">
                  <a:alpha val="20250"/>
                </a:srgbClr>
              </a:gs>
              <a:gs pos="100000">
                <a:srgbClr val="B6F36B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 rot="20280000">
            <a:off x="-4251960" y="-2093976"/>
            <a:ext cx="8046720" cy="2816352"/>
          </a:xfrm>
          <a:prstGeom prst="ellipse">
            <a:avLst/>
          </a:prstGeom>
          <a:gradFill rotWithShape="1">
            <a:gsLst>
              <a:gs pos="0">
                <a:srgbClr val="3FB98A">
                  <a:alpha val="36000"/>
                </a:srgbClr>
              </a:gs>
              <a:gs pos="45000">
                <a:srgbClr val="3FB98A">
                  <a:alpha val="16200"/>
                </a:srgbClr>
              </a:gs>
              <a:gs pos="100000">
                <a:srgbClr val="3FB98A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8641080" y="1828800"/>
            <a:ext cx="2743200" cy="4343400"/>
          </a:xfrm>
          <a:prstGeom prst="rect">
            <a:avLst/>
          </a:prstGeom>
          <a:solidFill>
            <a:srgbClr val="15372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12000000">
            <a:off x="9235440" y="-1097280"/>
            <a:ext cx="2926080" cy="2926080"/>
          </a:xfrm>
          <a:prstGeom prst="arc">
            <a:avLst>
              <a:gd name="adj1" fmla="val -16000000"/>
              <a:gd name="adj2" fmla="val 6000000"/>
            </a:avLst>
          </a:prstGeom>
          <a:noFill/>
          <a:ln w="38100">
            <a:solidFill>
              <a:srgbClr val="3FB98A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11119104" y="5760720"/>
            <a:ext cx="804672" cy="365760"/>
          </a:xfrm>
          <a:prstGeom prst="roundRect">
            <a:avLst>
              <a:gd name="adj" fmla="val 50000"/>
            </a:avLst>
          </a:prstGeom>
          <a:solidFill>
            <a:srgbClr val="3FB9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1600200"/>
            <a:ext cx="914400" cy="82296"/>
          </a:xfrm>
          <a:prstGeom prst="rect">
            <a:avLst/>
          </a:prstGeom>
          <a:solidFill>
            <a:srgbClr val="B6F3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5541680" cy="64008"/>
          </a:xfrm>
          <a:prstGeom prst="rect">
            <a:avLst/>
          </a:prstGeom>
          <a:solidFill>
            <a:srgbClr val="3FB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822960" y="502920"/>
            <a:ext cx="7498080" cy="10515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ECF8EF"/>
                </a:solidFill>
                <a:latin typeface="Unbounded"/>
              </a:rPr>
              <a:t>Global EV sales, millions</a:t>
            </a:r>
          </a:p>
        </p:txBody>
      </p:sp>
      <p:graphicFrame>
        <p:nvGraphicFramePr>
          <p:cNvPr id="10" name="chart"/>
          <p:cNvGraphicFramePr>
            <a:graphicFrameLocks noGrp="1"/>
          </p:cNvGraphicFramePr>
          <p:nvPr/>
        </p:nvGraphicFramePr>
        <p:xfrm>
          <a:off x="685800" y="1828800"/>
          <a:ext cx="768096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akeaway"/>
          <p:cNvSpPr txBox="1"/>
          <p:nvPr/>
        </p:nvSpPr>
        <p:spPr>
          <a:xfrm>
            <a:off x="8915400" y="2194560"/>
            <a:ext cx="2194560" cy="21945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ECF8EF"/>
                </a:solidFill>
                <a:latin typeface="Unbounded"/>
              </a:rPr>
              <a:t>6x in four years</a:t>
            </a:r>
          </a:p>
        </p:txBody>
      </p:sp>
      <p:sp>
        <p:nvSpPr>
          <p:cNvPr id="12" name="caption"/>
          <p:cNvSpPr txBox="1"/>
          <p:nvPr/>
        </p:nvSpPr>
        <p:spPr>
          <a:xfrm>
            <a:off x="8915400" y="452628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C5B0"/>
                </a:solidFill>
                <a:latin typeface="Unbounded"/>
              </a:rPr>
              <a:t>Battery-electric plus plug-in hybrid cars.</a:t>
            </a:r>
          </a:p>
        </p:txBody>
      </p:sp>
      <p:sp>
        <p:nvSpPr>
          <p:cNvPr id="13" name="source"/>
          <p:cNvSpPr txBox="1"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C5B0"/>
                </a:solidFill>
                <a:latin typeface="Unbounded"/>
              </a:rPr>
              <a:t>Source: IEA Global EV Outlook 2024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3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3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3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3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24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26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Graphic spid="10" grpId="0">
        <p:bldAsOne/>
      </p:bldGraphic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 rot="20940000">
            <a:off x="5577840" y="2505456"/>
            <a:ext cx="10241280" cy="3584448"/>
          </a:xfrm>
          <a:prstGeom prst="ellipse">
            <a:avLst/>
          </a:prstGeom>
          <a:gradFill rotWithShape="1">
            <a:gsLst>
              <a:gs pos="0">
                <a:srgbClr val="B6F36B">
                  <a:alpha val="45000"/>
                </a:srgbClr>
              </a:gs>
              <a:gs pos="45000">
                <a:srgbClr val="B6F36B">
                  <a:alpha val="20250"/>
                </a:srgbClr>
              </a:gs>
              <a:gs pos="100000">
                <a:srgbClr val="B6F36B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 rot="20940000">
            <a:off x="-4251960" y="-2093976"/>
            <a:ext cx="8046720" cy="2816352"/>
          </a:xfrm>
          <a:prstGeom prst="ellipse">
            <a:avLst/>
          </a:prstGeom>
          <a:gradFill rotWithShape="1">
            <a:gsLst>
              <a:gs pos="0">
                <a:srgbClr val="3FB98A">
                  <a:alpha val="36000"/>
                </a:srgbClr>
              </a:gs>
              <a:gs pos="45000">
                <a:srgbClr val="3FB98A">
                  <a:alpha val="16200"/>
                </a:srgbClr>
              </a:gs>
              <a:gs pos="100000">
                <a:srgbClr val="3FB98A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8641080" y="1828800"/>
            <a:ext cx="2743200" cy="4343400"/>
          </a:xfrm>
          <a:prstGeom prst="rect">
            <a:avLst/>
          </a:prstGeom>
          <a:solidFill>
            <a:srgbClr val="15372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1020000">
            <a:off x="9235440" y="-1097280"/>
            <a:ext cx="2926080" cy="2926080"/>
          </a:xfrm>
          <a:prstGeom prst="arc">
            <a:avLst>
              <a:gd name="adj1" fmla="val -16000000"/>
              <a:gd name="adj2" fmla="val 6000000"/>
            </a:avLst>
          </a:prstGeom>
          <a:noFill/>
          <a:ln w="38100">
            <a:solidFill>
              <a:srgbClr val="3FB98A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11119104" y="5760720"/>
            <a:ext cx="804672" cy="365760"/>
          </a:xfrm>
          <a:prstGeom prst="roundRect">
            <a:avLst>
              <a:gd name="adj" fmla="val 50000"/>
            </a:avLst>
          </a:prstGeom>
          <a:solidFill>
            <a:srgbClr val="3FB9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1600200"/>
            <a:ext cx="914400" cy="82296"/>
          </a:xfrm>
          <a:prstGeom prst="rect">
            <a:avLst/>
          </a:prstGeom>
          <a:solidFill>
            <a:srgbClr val="B6F3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6650016" cy="64008"/>
          </a:xfrm>
          <a:prstGeom prst="rect">
            <a:avLst/>
          </a:prstGeom>
          <a:solidFill>
            <a:srgbClr val="3FB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822960" y="502920"/>
            <a:ext cx="7498080" cy="10515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ECF8EF"/>
                </a:solidFill>
                <a:latin typeface="Unbounded"/>
              </a:rPr>
              <a:t>Where 2023's EVs were sold</a:t>
            </a:r>
          </a:p>
        </p:txBody>
      </p:sp>
      <p:graphicFrame>
        <p:nvGraphicFramePr>
          <p:cNvPr id="10" name="chart"/>
          <p:cNvGraphicFramePr>
            <a:graphicFrameLocks noGrp="1"/>
          </p:cNvGraphicFramePr>
          <p:nvPr/>
        </p:nvGraphicFramePr>
        <p:xfrm>
          <a:off x="685800" y="1828800"/>
          <a:ext cx="768096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akeaway"/>
          <p:cNvSpPr txBox="1"/>
          <p:nvPr/>
        </p:nvSpPr>
        <p:spPr>
          <a:xfrm>
            <a:off x="8915400" y="2194560"/>
            <a:ext cx="2194560" cy="21945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ECF8EF"/>
                </a:solidFill>
                <a:latin typeface="Unbounded"/>
              </a:rPr>
              <a:t>China leads</a:t>
            </a:r>
          </a:p>
        </p:txBody>
      </p:sp>
      <p:sp>
        <p:nvSpPr>
          <p:cNvPr id="12" name="caption"/>
          <p:cNvSpPr txBox="1"/>
          <p:nvPr/>
        </p:nvSpPr>
        <p:spPr>
          <a:xfrm>
            <a:off x="8915400" y="452628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C5B0"/>
                </a:solidFill>
                <a:latin typeface="Unbounded"/>
              </a:rPr>
              <a:t>Share of global electric car sales.</a:t>
            </a:r>
          </a:p>
        </p:txBody>
      </p:sp>
      <p:sp>
        <p:nvSpPr>
          <p:cNvPr id="13" name="source"/>
          <p:cNvSpPr txBox="1"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C5B0"/>
                </a:solidFill>
                <a:latin typeface="Unbounded"/>
              </a:rPr>
              <a:t>Source: IEA Global EV Outlook 2024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3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1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3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3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3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24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26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Graphic spid="10" grpId="0">
        <p:bldAsOne/>
      </p:bldGraphic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-4892040" y="82296"/>
            <a:ext cx="13898880" cy="4864608"/>
          </a:xfrm>
          <a:prstGeom prst="ellipse">
            <a:avLst/>
          </a:prstGeom>
          <a:gradFill rotWithShape="1">
            <a:gsLst>
              <a:gs pos="0">
                <a:srgbClr val="B6F36B">
                  <a:alpha val="45000"/>
                </a:srgbClr>
              </a:gs>
              <a:gs pos="45000">
                <a:srgbClr val="B6F36B">
                  <a:alpha val="20250"/>
                </a:srgbClr>
              </a:gs>
              <a:gs pos="100000">
                <a:srgbClr val="B6F36B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7315200" y="4663440"/>
            <a:ext cx="7315200" cy="2560320"/>
          </a:xfrm>
          <a:prstGeom prst="ellipse">
            <a:avLst/>
          </a:prstGeom>
          <a:gradFill rotWithShape="1">
            <a:gsLst>
              <a:gs pos="0">
                <a:srgbClr val="3FB98A">
                  <a:alpha val="36000"/>
                </a:srgbClr>
              </a:gs>
              <a:gs pos="45000">
                <a:srgbClr val="3FB98A">
                  <a:alpha val="16200"/>
                </a:srgbClr>
              </a:gs>
              <a:gs pos="100000">
                <a:srgbClr val="3FB98A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6F36B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9420000">
            <a:off x="822960" y="1143000"/>
            <a:ext cx="4572000" cy="4572000"/>
          </a:xfrm>
          <a:prstGeom prst="arc">
            <a:avLst>
              <a:gd name="adj1" fmla="val -16000000"/>
              <a:gd name="adj2" fmla="val 6000000"/>
            </a:avLst>
          </a:prstGeom>
          <a:noFill/>
          <a:ln w="38100">
            <a:solidFill>
              <a:srgbClr val="3FB98A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4663440" y="123444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3FB9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6035040" y="3886200"/>
            <a:ext cx="1097280" cy="82296"/>
          </a:xfrm>
          <a:prstGeom prst="rect">
            <a:avLst/>
          </a:prstGeom>
          <a:solidFill>
            <a:srgbClr val="B6F3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7758351" cy="64008"/>
          </a:xfrm>
          <a:prstGeom prst="rect">
            <a:avLst/>
          </a:prstGeom>
          <a:solidFill>
            <a:srgbClr val="3FB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umber"/>
          <p:cNvSpPr txBox="1"/>
          <p:nvPr/>
        </p:nvSpPr>
        <p:spPr>
          <a:xfrm>
            <a:off x="822960" y="1143000"/>
            <a:ext cx="4572000" cy="457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0" b="1">
                <a:solidFill>
                  <a:srgbClr val="B6F36B"/>
                </a:solidFill>
                <a:latin typeface="Unbounded"/>
              </a:rPr>
              <a:t>02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6035040" y="1188720"/>
            <a:ext cx="5486400" cy="25603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5000" b="1">
                <a:solidFill>
                  <a:srgbClr val="ECF8EF"/>
                </a:solidFill>
                <a:latin typeface="Unbounded"/>
              </a:rPr>
              <a:t>What made it happen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6035040" y="4206240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9CC5B0"/>
                </a:solidFill>
                <a:latin typeface="Unbounded"/>
              </a:rPr>
              <a:t>Cheaper batteries, stronger policy, better cars.</a:t>
            </a:r>
          </a:p>
        </p:txBody>
      </p:sp>
      <p:sp>
        <p:nvSpPr>
          <p:cNvPr id="12" name="back">
            <a:hlinkClick action="ppaction://hlinksldjump" r:id="rId2"/>
          </p:cNvPr>
          <p:cNvSpPr txBox="1"/>
          <p:nvPr/>
        </p:nvSpPr>
        <p:spPr>
          <a:xfrm>
            <a:off x="9814255" y="36576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CC5B0"/>
                </a:solidFill>
                <a:latin typeface="Unbounded"/>
              </a:rPr>
              <a:t>← Where we're going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3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3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5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05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3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22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24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 rot="660000">
            <a:off x="4663440" y="1225296"/>
            <a:ext cx="10241280" cy="3584448"/>
          </a:xfrm>
          <a:prstGeom prst="ellipse">
            <a:avLst/>
          </a:prstGeom>
          <a:gradFill rotWithShape="1">
            <a:gsLst>
              <a:gs pos="0">
                <a:srgbClr val="B6F36B">
                  <a:alpha val="45000"/>
                </a:srgbClr>
              </a:gs>
              <a:gs pos="45000">
                <a:srgbClr val="B6F36B">
                  <a:alpha val="20250"/>
                </a:srgbClr>
              </a:gs>
              <a:gs pos="100000">
                <a:srgbClr val="B6F36B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 rot="660000">
            <a:off x="-4114800" y="4937760"/>
            <a:ext cx="7315200" cy="2560320"/>
          </a:xfrm>
          <a:prstGeom prst="ellipse">
            <a:avLst/>
          </a:prstGeom>
          <a:gradFill rotWithShape="1">
            <a:gsLst>
              <a:gs pos="0">
                <a:srgbClr val="3FB98A">
                  <a:alpha val="36000"/>
                </a:srgbClr>
              </a:gs>
              <a:gs pos="45000">
                <a:srgbClr val="3FB98A">
                  <a:alpha val="16200"/>
                </a:srgbClr>
              </a:gs>
              <a:gs pos="100000">
                <a:srgbClr val="3FB98A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6F36B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15600000">
            <a:off x="6995160" y="960120"/>
            <a:ext cx="4754880" cy="4754880"/>
          </a:xfrm>
          <a:prstGeom prst="arc">
            <a:avLst>
              <a:gd name="adj1" fmla="val -16000000"/>
              <a:gd name="adj2" fmla="val 6000000"/>
            </a:avLst>
          </a:prstGeom>
          <a:noFill/>
          <a:ln w="38100">
            <a:solidFill>
              <a:srgbClr val="3FB98A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11256264" y="548640"/>
            <a:ext cx="804672" cy="365760"/>
          </a:xfrm>
          <a:prstGeom prst="roundRect">
            <a:avLst>
              <a:gd name="adj" fmla="val 50000"/>
            </a:avLst>
          </a:prstGeom>
          <a:solidFill>
            <a:srgbClr val="3FB9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1783080"/>
            <a:ext cx="914400" cy="82296"/>
          </a:xfrm>
          <a:prstGeom prst="rect">
            <a:avLst/>
          </a:prstGeom>
          <a:solidFill>
            <a:srgbClr val="B6F3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8866687" cy="64008"/>
          </a:xfrm>
          <a:prstGeom prst="rect">
            <a:avLst/>
          </a:prstGeom>
          <a:solidFill>
            <a:srgbClr val="3FB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822960" y="548640"/>
            <a:ext cx="5760720" cy="114300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CF8EF"/>
                </a:solidFill>
                <a:latin typeface="Unbounded"/>
              </a:rPr>
              <a:t>The adoption flywheel</a:t>
            </a:r>
          </a:p>
        </p:txBody>
      </p:sp>
      <p:sp>
        <p:nvSpPr>
          <p:cNvPr id="10" name="node0"/>
          <p:cNvSpPr/>
          <p:nvPr/>
        </p:nvSpPr>
        <p:spPr>
          <a:xfrm>
            <a:off x="9089136" y="676656"/>
            <a:ext cx="566928" cy="566928"/>
          </a:xfrm>
          <a:prstGeom prst="ellipse">
            <a:avLst/>
          </a:prstGeom>
          <a:solidFill>
            <a:srgbClr val="B6F36B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C2620"/>
                </a:solidFill>
                <a:latin typeface="Unbounded"/>
              </a:rPr>
              <a:t>1</a:t>
            </a:r>
          </a:p>
        </p:txBody>
      </p:sp>
      <p:sp>
        <p:nvSpPr>
          <p:cNvPr id="11" name="step0"/>
          <p:cNvSpPr txBox="1"/>
          <p:nvPr/>
        </p:nvSpPr>
        <p:spPr>
          <a:xfrm>
            <a:off x="822960" y="2148840"/>
            <a:ext cx="5669280" cy="937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B6F36B"/>
                </a:solidFill>
                <a:latin typeface="Unbounded"/>
              </a:rPr>
              <a:t>01  Cheaper batteries</a:t>
            </a: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ECF8EF"/>
                </a:solidFill>
                <a:latin typeface="Unbounded"/>
              </a:rPr>
              <a:t>Battery pack prices fell sharply over the decade.</a:t>
            </a:r>
          </a:p>
        </p:txBody>
      </p:sp>
      <p:sp>
        <p:nvSpPr>
          <p:cNvPr id="12" name="node1"/>
          <p:cNvSpPr/>
          <p:nvPr/>
        </p:nvSpPr>
        <p:spPr>
          <a:xfrm>
            <a:off x="11466576" y="3054096"/>
            <a:ext cx="566928" cy="566928"/>
          </a:xfrm>
          <a:prstGeom prst="ellipse">
            <a:avLst/>
          </a:prstGeom>
          <a:solidFill>
            <a:srgbClr val="3FB98A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C2620"/>
                </a:solidFill>
                <a:latin typeface="Unbounded"/>
              </a:rPr>
              <a:t>2</a:t>
            </a:r>
          </a:p>
        </p:txBody>
      </p:sp>
      <p:sp>
        <p:nvSpPr>
          <p:cNvPr id="13" name="step1"/>
          <p:cNvSpPr txBox="1"/>
          <p:nvPr/>
        </p:nvSpPr>
        <p:spPr>
          <a:xfrm>
            <a:off x="822960" y="3177540"/>
            <a:ext cx="5669280" cy="937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3FB98A"/>
                </a:solidFill>
                <a:latin typeface="Unbounded"/>
              </a:rPr>
              <a:t>02  More models</a:t>
            </a: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ECF8EF"/>
                </a:solidFill>
                <a:latin typeface="Unbounded"/>
              </a:rPr>
              <a:t>Carmakers launch EVs in every segment.</a:t>
            </a:r>
          </a:p>
        </p:txBody>
      </p:sp>
      <p:sp>
        <p:nvSpPr>
          <p:cNvPr id="14" name="node2"/>
          <p:cNvSpPr/>
          <p:nvPr/>
        </p:nvSpPr>
        <p:spPr>
          <a:xfrm>
            <a:off x="9089136" y="5431536"/>
            <a:ext cx="566928" cy="566928"/>
          </a:xfrm>
          <a:prstGeom prst="ellipse">
            <a:avLst/>
          </a:prstGeom>
          <a:solidFill>
            <a:srgbClr val="B6F36B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C2620"/>
                </a:solidFill>
                <a:latin typeface="Unbounded"/>
              </a:rPr>
              <a:t>3</a:t>
            </a:r>
          </a:p>
        </p:txBody>
      </p:sp>
      <p:sp>
        <p:nvSpPr>
          <p:cNvPr id="15" name="step2"/>
          <p:cNvSpPr txBox="1"/>
          <p:nvPr/>
        </p:nvSpPr>
        <p:spPr>
          <a:xfrm>
            <a:off x="822960" y="4206240"/>
            <a:ext cx="5669280" cy="937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B6F36B"/>
                </a:solidFill>
                <a:latin typeface="Unbounded"/>
              </a:rPr>
              <a:t>03  More buyers</a:t>
            </a: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ECF8EF"/>
                </a:solidFill>
                <a:latin typeface="Unbounded"/>
              </a:rPr>
              <a:t>Sales volume grows and scale cuts costs.</a:t>
            </a:r>
          </a:p>
        </p:txBody>
      </p:sp>
      <p:sp>
        <p:nvSpPr>
          <p:cNvPr id="16" name="node3"/>
          <p:cNvSpPr/>
          <p:nvPr/>
        </p:nvSpPr>
        <p:spPr>
          <a:xfrm>
            <a:off x="6711696" y="3054096"/>
            <a:ext cx="566928" cy="566928"/>
          </a:xfrm>
          <a:prstGeom prst="ellipse">
            <a:avLst/>
          </a:prstGeom>
          <a:solidFill>
            <a:srgbClr val="3FB98A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C2620"/>
                </a:solidFill>
                <a:latin typeface="Unbounded"/>
              </a:rPr>
              <a:t>4</a:t>
            </a:r>
          </a:p>
        </p:txBody>
      </p:sp>
      <p:sp>
        <p:nvSpPr>
          <p:cNvPr id="17" name="step3"/>
          <p:cNvSpPr txBox="1"/>
          <p:nvPr/>
        </p:nvSpPr>
        <p:spPr>
          <a:xfrm>
            <a:off x="822960" y="5234940"/>
            <a:ext cx="5669280" cy="937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3FB98A"/>
                </a:solidFill>
                <a:latin typeface="Unbounded"/>
              </a:rPr>
              <a:t>04  More chargers</a:t>
            </a: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ECF8EF"/>
                </a:solidFill>
                <a:latin typeface="Unbounded"/>
              </a:rPr>
              <a:t>Demand pulls in charging investment.</a:t>
            </a:r>
          </a:p>
        </p:txBody>
      </p:sp>
      <p:sp>
        <p:nvSpPr>
          <p:cNvPr id="18" name="center"/>
          <p:cNvSpPr txBox="1"/>
          <p:nvPr/>
        </p:nvSpPr>
        <p:spPr>
          <a:xfrm>
            <a:off x="7898587" y="2386584"/>
            <a:ext cx="2948026" cy="19019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2000"/>
              </a:lnSpc>
            </a:pPr>
            <a:r>
              <a:rPr sz="2400" b="1">
                <a:solidFill>
                  <a:srgbClr val="ECF8EF"/>
                </a:solidFill>
                <a:latin typeface="Unbounded"/>
              </a:rPr>
              <a:t>Flywheel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3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5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05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05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4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664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5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05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05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744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4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928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5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05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05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008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4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1192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5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05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05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1272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4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456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3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49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51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 rot="20280000">
            <a:off x="6309360" y="-2249424"/>
            <a:ext cx="10241280" cy="3584448"/>
          </a:xfrm>
          <a:prstGeom prst="ellipse">
            <a:avLst/>
          </a:prstGeom>
          <a:gradFill rotWithShape="1">
            <a:gsLst>
              <a:gs pos="0">
                <a:srgbClr val="B6F36B">
                  <a:alpha val="45000"/>
                </a:srgbClr>
              </a:gs>
              <a:gs pos="45000">
                <a:srgbClr val="B6F36B">
                  <a:alpha val="20250"/>
                </a:srgbClr>
              </a:gs>
              <a:gs pos="100000">
                <a:srgbClr val="B6F36B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 rot="20280000">
            <a:off x="-4251960" y="5221224"/>
            <a:ext cx="8046720" cy="2816352"/>
          </a:xfrm>
          <a:prstGeom prst="ellipse">
            <a:avLst/>
          </a:prstGeom>
          <a:gradFill rotWithShape="1">
            <a:gsLst>
              <a:gs pos="0">
                <a:srgbClr val="3FB98A">
                  <a:alpha val="36000"/>
                </a:srgbClr>
              </a:gs>
              <a:gs pos="45000">
                <a:srgbClr val="3FB98A">
                  <a:alpha val="16200"/>
                </a:srgbClr>
              </a:gs>
              <a:gs pos="100000">
                <a:srgbClr val="3FB98A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5372E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2400000">
            <a:off x="-1097280" y="-1463040"/>
            <a:ext cx="2926080" cy="2926080"/>
          </a:xfrm>
          <a:prstGeom prst="arc">
            <a:avLst>
              <a:gd name="adj1" fmla="val -16000000"/>
              <a:gd name="adj2" fmla="val 6000000"/>
            </a:avLst>
          </a:prstGeom>
          <a:noFill/>
          <a:ln w="38100">
            <a:solidFill>
              <a:srgbClr val="3FB98A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11146536" y="594360"/>
            <a:ext cx="704088" cy="320040"/>
          </a:xfrm>
          <a:prstGeom prst="roundRect">
            <a:avLst>
              <a:gd name="adj" fmla="val 50000"/>
            </a:avLst>
          </a:prstGeom>
          <a:solidFill>
            <a:srgbClr val="3FB9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1600200"/>
            <a:ext cx="914400" cy="82296"/>
          </a:xfrm>
          <a:prstGeom prst="rect">
            <a:avLst/>
          </a:prstGeom>
          <a:solidFill>
            <a:srgbClr val="B6F3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9975023" cy="64008"/>
          </a:xfrm>
          <a:prstGeom prst="rect">
            <a:avLst/>
          </a:prstGeom>
          <a:solidFill>
            <a:srgbClr val="3FB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822960" y="502920"/>
            <a:ext cx="10515600" cy="10515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ECF8EF"/>
                </a:solidFill>
                <a:latin typeface="Unbounded"/>
              </a:rPr>
              <a:t>The new streetscape</a:t>
            </a:r>
          </a:p>
        </p:txBody>
      </p:sp>
      <p:pic>
        <p:nvPicPr>
          <p:cNvPr id="10" name="img0" descr="stock-electric-vehicle-charging-station-tall.jpg"/>
          <p:cNvPicPr>
            <a:picLocks noChangeAspect="1"/>
          </p:cNvPicPr>
          <p:nvPr/>
        </p:nvPicPr>
        <p:blipFill>
          <a:blip r:embed="rId2"/>
          <a:srcRect l="1080" r="1080"/>
          <a:stretch>
            <a:fillRect/>
          </a:stretch>
        </p:blipFill>
        <p:spPr>
          <a:xfrm>
            <a:off x="822960" y="2011680"/>
            <a:ext cx="3332378" cy="3566160"/>
          </a:xfrm>
          <a:prstGeom prst="roundRect">
            <a:avLst>
              <a:gd name="adj" fmla="val 3429"/>
            </a:avLst>
          </a:prstGeom>
        </p:spPr>
      </p:pic>
      <p:sp>
        <p:nvSpPr>
          <p:cNvPr id="11" name="cap0"/>
          <p:cNvSpPr txBox="1"/>
          <p:nvPr/>
        </p:nvSpPr>
        <p:spPr>
          <a:xfrm>
            <a:off x="822960" y="5742432"/>
            <a:ext cx="333237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CC5B0"/>
                </a:solidFill>
                <a:latin typeface="Unbounded"/>
              </a:rPr>
              <a:t>Fast chargers</a:t>
            </a:r>
          </a:p>
        </p:txBody>
      </p:sp>
      <p:pic>
        <p:nvPicPr>
          <p:cNvPr id="12" name="img1" descr="stock-electric-bus-city-tall-1920.jpg"/>
          <p:cNvPicPr>
            <a:picLocks noChangeAspect="1"/>
          </p:cNvPicPr>
          <p:nvPr/>
        </p:nvPicPr>
        <p:blipFill>
          <a:blip r:embed="rId3"/>
          <a:srcRect t="9869" b="9869"/>
          <a:stretch>
            <a:fillRect/>
          </a:stretch>
        </p:blipFill>
        <p:spPr>
          <a:xfrm>
            <a:off x="4429658" y="2011680"/>
            <a:ext cx="3332378" cy="3566160"/>
          </a:xfrm>
          <a:prstGeom prst="roundRect">
            <a:avLst>
              <a:gd name="adj" fmla="val 3429"/>
            </a:avLst>
          </a:prstGeom>
        </p:spPr>
      </p:pic>
      <p:sp>
        <p:nvSpPr>
          <p:cNvPr id="13" name="cap1"/>
          <p:cNvSpPr txBox="1"/>
          <p:nvPr/>
        </p:nvSpPr>
        <p:spPr>
          <a:xfrm>
            <a:off x="4429658" y="5742432"/>
            <a:ext cx="333237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CC5B0"/>
                </a:solidFill>
                <a:latin typeface="Unbounded"/>
              </a:rPr>
              <a:t>Electric buses</a:t>
            </a:r>
          </a:p>
        </p:txBody>
      </p:sp>
      <p:pic>
        <p:nvPicPr>
          <p:cNvPr id="14" name="img2" descr="stock-wind-turbines-tall.jpg"/>
          <p:cNvPicPr>
            <a:picLocks noChangeAspect="1"/>
          </p:cNvPicPr>
          <p:nvPr/>
        </p:nvPicPr>
        <p:blipFill>
          <a:blip r:embed="rId4"/>
          <a:srcRect t="16192" b="16192"/>
          <a:stretch>
            <a:fillRect/>
          </a:stretch>
        </p:blipFill>
        <p:spPr>
          <a:xfrm>
            <a:off x="8036357" y="2011680"/>
            <a:ext cx="3332378" cy="3566160"/>
          </a:xfrm>
          <a:prstGeom prst="roundRect">
            <a:avLst>
              <a:gd name="adj" fmla="val 3429"/>
            </a:avLst>
          </a:prstGeom>
        </p:spPr>
      </p:pic>
      <p:sp>
        <p:nvSpPr>
          <p:cNvPr id="15" name="cap2"/>
          <p:cNvSpPr txBox="1"/>
          <p:nvPr/>
        </p:nvSpPr>
        <p:spPr>
          <a:xfrm>
            <a:off x="8036357" y="5742432"/>
            <a:ext cx="333237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CC5B0"/>
                </a:solidFill>
                <a:latin typeface="Unbounded"/>
              </a:rPr>
              <a:t>Clean power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3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72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2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576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2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2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816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752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72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2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992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34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36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 rot="20940000">
            <a:off x="246888" y="466344"/>
            <a:ext cx="11704320" cy="4096512"/>
          </a:xfrm>
          <a:prstGeom prst="ellipse">
            <a:avLst/>
          </a:prstGeom>
          <a:gradFill rotWithShape="1">
            <a:gsLst>
              <a:gs pos="0">
                <a:srgbClr val="B6F36B">
                  <a:alpha val="45000"/>
                </a:srgbClr>
              </a:gs>
              <a:gs pos="45000">
                <a:srgbClr val="B6F36B">
                  <a:alpha val="20250"/>
                </a:srgbClr>
              </a:gs>
              <a:gs pos="100000">
                <a:srgbClr val="B6F36B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 rot="20940000">
            <a:off x="-3931920" y="-1554480"/>
            <a:ext cx="7315200" cy="2560320"/>
          </a:xfrm>
          <a:prstGeom prst="ellipse">
            <a:avLst/>
          </a:prstGeom>
          <a:gradFill rotWithShape="1">
            <a:gsLst>
              <a:gs pos="0">
                <a:srgbClr val="3FB98A">
                  <a:alpha val="36000"/>
                </a:srgbClr>
              </a:gs>
              <a:gs pos="45000">
                <a:srgbClr val="3FB98A">
                  <a:alpha val="16200"/>
                </a:srgbClr>
              </a:gs>
              <a:gs pos="100000">
                <a:srgbClr val="3FB98A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6F36B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10800000">
            <a:off x="2670048" y="-457200"/>
            <a:ext cx="6858000" cy="6858000"/>
          </a:xfrm>
          <a:prstGeom prst="arc">
            <a:avLst>
              <a:gd name="adj1" fmla="val -16000000"/>
              <a:gd name="adj2" fmla="val 6000000"/>
            </a:avLst>
          </a:prstGeom>
          <a:noFill/>
          <a:ln w="38100">
            <a:solidFill>
              <a:srgbClr val="3FB98A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9610344" y="914400"/>
            <a:ext cx="804672" cy="365760"/>
          </a:xfrm>
          <a:prstGeom prst="roundRect">
            <a:avLst>
              <a:gd name="adj" fmla="val 50000"/>
            </a:avLst>
          </a:prstGeom>
          <a:solidFill>
            <a:srgbClr val="3FB9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5641848" y="4114800"/>
            <a:ext cx="914400" cy="82296"/>
          </a:xfrm>
          <a:prstGeom prst="rect">
            <a:avLst/>
          </a:prstGeom>
          <a:solidFill>
            <a:srgbClr val="B6F3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11083359" cy="64008"/>
          </a:xfrm>
          <a:prstGeom prst="rect">
            <a:avLst/>
          </a:prstGeom>
          <a:solidFill>
            <a:srgbClr val="3FB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 txBox="1"/>
          <p:nvPr/>
        </p:nvSpPr>
        <p:spPr>
          <a:xfrm>
            <a:off x="2898648" y="9144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400">
                <a:solidFill>
                  <a:srgbClr val="B6F36B"/>
                </a:solidFill>
                <a:latin typeface="Unbounded"/>
              </a:rPr>
              <a:t>BIG QUESTION</a:t>
            </a:r>
          </a:p>
        </p:txBody>
      </p:sp>
      <p:sp>
        <p:nvSpPr>
          <p:cNvPr id="10" name="question"/>
          <p:cNvSpPr txBox="1"/>
          <p:nvPr/>
        </p:nvSpPr>
        <p:spPr>
          <a:xfrm>
            <a:off x="2898648" y="1325880"/>
            <a:ext cx="6400800" cy="2651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8000"/>
              </a:lnSpc>
            </a:pPr>
            <a:r>
              <a:rPr sz="5000" b="1">
                <a:solidFill>
                  <a:srgbClr val="ECF8EF"/>
                </a:solidFill>
                <a:latin typeface="Unbounded"/>
              </a:rPr>
              <a:t>Can the grid keep up?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3127248" y="4389120"/>
            <a:ext cx="5943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9CC5B0"/>
                </a:solidFill>
                <a:latin typeface="Unbounded"/>
              </a:rPr>
              <a:t>Millions of cars plugging in at once is a new kind of demand.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wd">
                                    <p:tmPct val="12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1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81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16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18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-484632" y="594360"/>
            <a:ext cx="13167360" cy="4608576"/>
          </a:xfrm>
          <a:prstGeom prst="ellipse">
            <a:avLst/>
          </a:prstGeom>
          <a:gradFill rotWithShape="1">
            <a:gsLst>
              <a:gs pos="0">
                <a:srgbClr val="B6F36B">
                  <a:alpha val="45000"/>
                </a:srgbClr>
              </a:gs>
              <a:gs pos="45000">
                <a:srgbClr val="B6F36B">
                  <a:alpha val="20250"/>
                </a:srgbClr>
              </a:gs>
              <a:gs pos="100000">
                <a:srgbClr val="B6F36B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-3657600" y="5120640"/>
            <a:ext cx="7315200" cy="2560320"/>
          </a:xfrm>
          <a:prstGeom prst="ellipse">
            <a:avLst/>
          </a:prstGeom>
          <a:gradFill rotWithShape="1">
            <a:gsLst>
              <a:gs pos="0">
                <a:srgbClr val="3FB98A">
                  <a:alpha val="36000"/>
                </a:srgbClr>
              </a:gs>
              <a:gs pos="45000">
                <a:srgbClr val="3FB98A">
                  <a:alpha val="16200"/>
                </a:srgbClr>
              </a:gs>
              <a:gs pos="100000">
                <a:srgbClr val="3FB98A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6F36B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19200000">
            <a:off x="2441448" y="-758952"/>
            <a:ext cx="7315200" cy="7315200"/>
          </a:xfrm>
          <a:prstGeom prst="arc">
            <a:avLst>
              <a:gd name="adj1" fmla="val -16000000"/>
              <a:gd name="adj2" fmla="val 6000000"/>
            </a:avLst>
          </a:prstGeom>
          <a:noFill/>
          <a:ln w="38100">
            <a:solidFill>
              <a:srgbClr val="3FB98A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10058400" y="539496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3FB9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5641848" y="3657600"/>
            <a:ext cx="914400" cy="82296"/>
          </a:xfrm>
          <a:prstGeom prst="rect">
            <a:avLst/>
          </a:prstGeom>
          <a:solidFill>
            <a:srgbClr val="B6F3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3FB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2898648" y="1234440"/>
            <a:ext cx="6400800" cy="22402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lnSpc>
                <a:spcPct val="102000"/>
              </a:lnSpc>
            </a:pPr>
            <a:r>
              <a:rPr sz="5100" b="1">
                <a:solidFill>
                  <a:srgbClr val="ECF8EF"/>
                </a:solidFill>
                <a:latin typeface="Unbounded"/>
              </a:rPr>
              <a:t>The road ahead is electric</a:t>
            </a:r>
          </a:p>
        </p:txBody>
      </p:sp>
      <p:sp>
        <p:nvSpPr>
          <p:cNvPr id="10" name="subtitle"/>
          <p:cNvSpPr txBox="1"/>
          <p:nvPr/>
        </p:nvSpPr>
        <p:spPr>
          <a:xfrm>
            <a:off x="3127248" y="3931920"/>
            <a:ext cx="5943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9CC5B0"/>
                </a:solidFill>
                <a:latin typeface="Unbounded"/>
              </a:rPr>
              <a:t>Thank you. Questions?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8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5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05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3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14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16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Electric Shift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